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正式严格通过 / 500</c:v>
                </c:pt>
              </c:strCache>
            </c:strRef>
          </c:tx>
          <c:dPt>
            <c:idx val="0"/>
            <c:spPr>
              <a:solidFill>
                <a:srgbClr val="637587"/>
              </a:solidFill>
              <a:ln>
                <a:noFill/>
              </a:ln>
            </c:spPr>
          </c:dPt>
          <c:dPt>
            <c:idx val="1"/>
            <c:spPr>
              <a:solidFill>
                <a:srgbClr val="138F8B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L0</c:v>
                </c:pt>
                <c:pt idx="1">
                  <c:v>冻结 seed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322</c:v>
                </c:pt>
                <c:pt idx="1">
                  <c:v>338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正式有效质量 Q</c:v>
                </c:pt>
              </c:strCache>
            </c:strRef>
          </c:tx>
          <c:dPt>
            <c:idx val="0"/>
            <c:spPr>
              <a:solidFill>
                <a:srgbClr val="637587"/>
              </a:solidFill>
              <a:ln>
                <a:noFill/>
              </a:ln>
            </c:spPr>
          </c:dPt>
          <c:dPt>
            <c:idx val="1"/>
            <c:spPr>
              <a:solidFill>
                <a:srgbClr val="138F8B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L0</c:v>
                </c:pt>
                <c:pt idx="1">
                  <c:v>冻结 seed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0.644</c:v>
                </c:pt>
                <c:pt idx="1">
                  <c:v>0.676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平均无效 loop</c:v>
                </c:pt>
              </c:strCache>
            </c:strRef>
          </c:tx>
          <c:dPt>
            <c:idx val="0"/>
            <c:spPr>
              <a:solidFill>
                <a:srgbClr val="637587"/>
              </a:solidFill>
              <a:ln>
                <a:noFill/>
              </a:ln>
            </c:spPr>
          </c:dPt>
          <c:dPt>
            <c:idx val="1"/>
            <c:spPr>
              <a:solidFill>
                <a:srgbClr val="138F8B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L0</c:v>
                </c:pt>
                <c:pt idx="1">
                  <c:v>冻结 seed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0.38</c:v>
                </c:pt>
                <c:pt idx="1">
                  <c:v>0.204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第1页｜AgentFlow 自进化系统</a:t>
            </a:r>
          </a:p>
          <a:p>
            <a:r>
              <a:t>当前机制、实验进展与研究方向</a:t>
            </a:r>
          </a:p>
          <a:p>
            <a:r>
              <a:t>建议用时：30秒</a:t>
            </a:r>
          </a:p>
          <a:p/>
          <a:p>
            <a:r>
              <a:t>这次汇报回答三个问题：系统现在如何运行和学习，现有结果证明到哪一步，下一步应该研究什么。分析基于2026年10月9日的当前仓库，提交f44bbaf4。系统机制用当前源码核对，实验结论用本机保留的逐题摘要复算，并把缺失的原生报告、历史运行日志与未经验证的计划分别标明。本次没有重跑模型实验，也没有把历史测试记录当作当前回归。</a:t>
            </a:r>
          </a:p>
          <a:p/>
          <a:p>
            <a:r>
              <a:t>来源与证据边界：</a:t>
            </a:r>
          </a:p>
          <a:p>
            <a:r>
              <a:t>Git HEAD f44bbaf4a9531731bfbd3eb6c115fe4210df95b1；分支 xyj/harness_agent_poc_evo</a:t>
            </a:r>
          </a:p>
          <a:p>
            <a:r>
              <a:t>tools/trajectory_evolution/experiments/appworld/README.md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第2页｜当前结论：工程闭环已形成，研究证据仍需补强</a:t>
            </a:r>
          </a:p>
          <a:p>
            <a:r>
              <a:t>建议用时：60秒</a:t>
            </a:r>
          </a:p>
          <a:p/>
          <a:p>
            <a:r>
              <a:t>系统已形成轨迹采集、评测、经验管理、运行策略、后台搜索与交付的工程链路。AppWorld现存摘要显示冻结seed相对L0增加16道严格通过题，平均无效loop下降，但质量提升4.968944%仍低于5%的仓库门槛。更需要强调，完整500题已经用于开发反馈，不是独立留出评测；后续30轮GEPA也没有新增accepted节点。我的判断是，这一阶段最有价值的工作是建立了可追踪的执行和策略机制，下一阶段应将实际应用、泛化收益和完整成本变成可重复证明的研究证据。</a:t>
            </a:r>
          </a:p>
          <a:p/>
          <a:p>
            <a:r>
              <a:t>来源与证据边界：</a:t>
            </a:r>
          </a:p>
          <a:p>
            <a:r>
              <a:t>tools/trajectory_evolution/experiments/appworld/README.md</a:t>
            </a:r>
          </a:p>
          <a:p>
            <a:r>
              <a:t>trace_output/appworld/published/strategy/manifest.json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第3页｜30 分钟汇报路线</a:t>
            </a:r>
          </a:p>
          <a:p>
            <a:r>
              <a:t>建议用时：60秒</a:t>
            </a:r>
          </a:p>
          <a:p/>
          <a:p>
            <a:r>
              <a:t>前六分钟说明AgentFlow的总体架构和请求执行方式，中间十分钟讲从边界打点到L1、L2、L3再到GEPA的具体机制。随后八分钟集中核对AppWorld成绩、搜索状态和业务评测的偏差，最后六分钟讨论研究问题、实验设计与阶段安排。源码位置和原始证据路径留在每页备注与附录，避免主讲时逐个念函数名。</a:t>
            </a:r>
          </a:p>
          <a:p/>
          <a:p>
            <a:r>
              <a:t>来源与证据边界：</a:t>
            </a:r>
          </a:p>
          <a:p>
            <a:r>
              <a:t>本汇报第4—18页：源码机制；第19—25页：实验与问题；第26—30页：下一步方向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第4页｜仓库由执行底座、Agent Harness 与演化组件组成</a:t>
            </a:r>
          </a:p>
          <a:p>
            <a:r>
              <a:t>建议用时：60秒</a:t>
            </a:r>
          </a:p>
          <a:p/>
          <a:p>
            <a:r>
              <a:t>仓库不是一个单独的提示词优化脚本。src与include中是C++服务、会话、任务、工作流、Worker和DataBus；packages/agentflow-runtime中是Python协调器、技能执行器和LLM调用；tools/trajectory_evolution是可独立构建的C++组件，有协议、SDK、记忆、策略和搜索。frontend/bridge提供REST和SSE接口，experiments提供专用评测入口。根构建产生libagentflow与agentflowd，演化组件另行构建。这一划分让执行系统可以不依赖每次请求中的后台学习。</a:t>
            </a:r>
          </a:p>
          <a:p/>
          <a:p>
            <a:r>
              <a:t>来源与证据边界：</a:t>
            </a:r>
          </a:p>
          <a:p>
            <a:r>
              <a:t>CMakeLists.txt:355,429</a:t>
            </a:r>
          </a:p>
          <a:p>
            <a:r>
              <a:t>tools/trajectory_evolution/CMakeLists.txt:4,155,217,240</a:t>
            </a:r>
          </a:p>
          <a:p>
            <a:r>
              <a:t>packages/agentflow-runtime/src/agentflow_runtime/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第5页｜一次请求怎样跨语言执行并返回结果</a:t>
            </a:r>
          </a:p>
          <a:p>
            <a:r>
              <a:t>建议用时：60秒</a:t>
            </a:r>
          </a:p>
          <a:p/>
          <a:p>
            <a:r>
              <a:t>用户请求从Bridge chat_rest进入JSON-RPC agent.execute；C++端通过AgentRegistry与SessionRouter找到Session和Task，Scheduler与Worker执行工作流节点。Python Coordinator选择技能，C++维护批次并发、exec_skill_key和ALL join，Skill Executor调用模型和工具。DataBus保存结果，ResponsePoller关联请求，Bridge返回内容。要区别两个Coordinator：C++协调任务派发和批次状态，Python协调下一步模型决策。框架completed仅说明执行终态，业务成功要由独立验收决定。</a:t>
            </a:r>
          </a:p>
          <a:p/>
          <a:p>
            <a:r>
              <a:t>来源与证据边界：</a:t>
            </a:r>
          </a:p>
          <a:p>
            <a:r>
              <a:t>frontend/bridge/routes/chat_rest.py:471</a:t>
            </a:r>
          </a:p>
          <a:p>
            <a:r>
              <a:t>src/daemon/rpc_handler.cpp:418,646</a:t>
            </a:r>
          </a:p>
          <a:p>
            <a:r>
              <a:t>src/agent/agent.cpp:3133,3228,3346</a:t>
            </a:r>
          </a:p>
          <a:p>
            <a:r>
              <a:t>packages/agentflow-runtime/src/agentflow_runtime/skill_executor.py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第6页｜自进化是在线执行与后台学习之间的反馈环</a:t>
            </a:r>
          </a:p>
          <a:p>
            <a:r>
              <a:t>建议用时：60秒</a:t>
            </a:r>
          </a:p>
          <a:p/>
          <a:p>
            <a:r>
              <a:t>在线路径负责用固定快照执行任务，在模型、动作、调度与循环位置进行有界查询和控制。后台路径接收轨迹、校验、评测、提炼经验、审核，再编译候选和搜索。在线不会为了每次建议同步运行完整反思模型。原生LocalRuntime在run创建时固定PolicyRuntime，后台增加记忆不直接替换正在执行的策略。跨短进程节点的HTTP服务负责共享run所有权；原生SDK适合生命周期完整的常驻宿主。</a:t>
            </a:r>
          </a:p>
          <a:p/>
          <a:p>
            <a:r>
              <a:t>来源与证据边界：</a:t>
            </a:r>
          </a:p>
          <a:p>
            <a:r>
              <a:t>tools/trajectory_evolution/src/service/local_runtime.cpp:292,340,368</a:t>
            </a:r>
          </a:p>
          <a:p>
            <a:r>
              <a:t>tools/trajectory_evolution/docs/01-overview.md</a:t>
            </a:r>
          </a:p>
          <a:p>
            <a:r>
              <a:t>tools/trajectory_evolution/docs/17-learning-scheduler.md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第7页｜L0–L4：收集事实、改变行为、搜索新策略</a:t>
            </a:r>
          </a:p>
          <a:p>
            <a:r>
              <a:t>建议用时：60秒</a:t>
            </a:r>
          </a:p>
          <a:p/>
          <a:p>
            <a:r>
              <a:t>L0是基线和轨迹收集，L1在模型输入中加入已批准经验，L2控制工具参数、重试与技能依赖，L3控制继续、重规划和停止。L4不是在某个新运行边界里执行的第四种在线控制，而是后台GEPA生成、比较、重组和交付L1到L3策略的能力。虽然Proto枚举有L4，validate_options接受的运行策略级别是L1到L3。配置max_level=L3也不意味着三种能力都曾实际生效。</a:t>
            </a:r>
          </a:p>
          <a:p/>
          <a:p>
            <a:r>
              <a:t>来源与证据边界：</a:t>
            </a:r>
          </a:p>
          <a:p>
            <a:r>
              <a:t>tools/trajectory_evolution/src/runtime/policy_runtime.cpp:112-113</a:t>
            </a:r>
          </a:p>
          <a:p>
            <a:r>
              <a:t>tools/trajectory_evolution/proto/trajectory_trace.proto:11-18</a:t>
            </a:r>
          </a:p>
          <a:p>
            <a:r>
              <a:t>tools/trajectory_evolution/docs/16-runtime-controls.md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第8页｜统一边界协议把执行事实与应用回执关联起来</a:t>
            </a:r>
          </a:p>
          <a:p>
            <a:r>
              <a:t>建议用时：60秒</a:t>
            </a:r>
          </a:p>
          <a:p/>
          <a:p>
            <a:r>
              <a:t>统一协议的意义是让不同语言与不同进程表达同一类事件。标准Identity标明agent、用户、conversation和run；底座session另属宿主路由身份。point与parent链标明分支，request_id支持幂等，输入、观察和错误成为后续评测的证据。模型前可以查L1，动作前查L2，loop前查L3，但最终必须看到实际请求或派发结果的应用回执。并发事件不能只按时间戳排序来理解，exec_skill_key和caused_by帮助关联真实前因。</a:t>
            </a:r>
          </a:p>
          <a:p/>
          <a:p>
            <a:r>
              <a:t>来源与证据边界：</a:t>
            </a:r>
          </a:p>
          <a:p>
            <a:r>
              <a:t>tools/trajectory_evolution/api/boundary-v1.schema.json</a:t>
            </a:r>
          </a:p>
          <a:p>
            <a:r>
              <a:t>tools/trajectory_evolution/docs/05-protocol.md</a:t>
            </a:r>
          </a:p>
          <a:p>
            <a:r>
              <a:t>tools/trajectory_evolution/docs/08-instrumentation.md</a:t>
            </a:r>
          </a:p>
          <a:p>
            <a:r>
              <a:t>src/agent/agent.cpp:3346,3497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第9页｜轨迹先经过完整性校验，再进入评测与学习</a:t>
            </a:r>
          </a:p>
          <a:p>
            <a:r>
              <a:t>建议用时：60秒</a:t>
            </a:r>
          </a:p>
          <a:p/>
          <a:p>
            <a:r>
              <a:t>从边界事件到经验之间不是简单把日志交给模型。首先规范化轨迹与Episode，检查身份、事件引用、顺序、收尾、缺口和预算。之后Evaluator生成任务结果、质量和loop诊断，再据有来源的失败与恢复提炼候选。缺失事件或capture_degraded会限制可评价范围，不能将缺失计为0错误或0无效loop。训练中允许真实模型失败，但存储完整性故障要单独处理。</a:t>
            </a:r>
          </a:p>
          <a:p/>
          <a:p>
            <a:r>
              <a:t>来源与证据边界：</a:t>
            </a:r>
          </a:p>
          <a:p>
            <a:r>
              <a:t>tools/trajectory_evolution/docs/10-capture-and-validation.md</a:t>
            </a:r>
          </a:p>
          <a:p>
            <a:r>
              <a:t>tools/trajectory_evolution/src/analysis/evolution_pipeline.cpp</a:t>
            </a:r>
          </a:p>
          <a:p>
            <a:r>
              <a:t>tools/trajectory_evolution/docs/11-evaluation.md</a:t>
            </a:r>
          </a:p>
          <a:p>
            <a:r>
              <a:t>tools/trajectory_evolution/docs/12-reflection-and-candidates.md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第10页｜评测同时衡量任务成功、有效质量与无效 loop</a:t>
            </a:r>
          </a:p>
          <a:p>
            <a:r>
              <a:t>建议用时：60秒</a:t>
            </a:r>
          </a:p>
          <a:p/>
          <a:p>
            <a:r>
              <a:t>严格通过以原生verdict=passed为准，要求确定性检查和模型严格验收共同满足。正式有效质量Q不是直接照抄模型assessment.quality，确定性检查失败或关键违规可能使其归零。AppWorld当前每题一个普通目标，因此完整Q均值等于正式严格通过率。无效loop来自complete的loop_review，计算评审的无效迭代总数除以评审题数，并不是工具调用次数或总轮数。原始报告中即使raw质量为1，正式验收仍可能失败。官方TGC和仓库更严格的组合验收必须分别报告。</a:t>
            </a:r>
          </a:p>
          <a:p/>
          <a:p>
            <a:r>
              <a:t>来源与证据边界：</a:t>
            </a:r>
          </a:p>
          <a:p>
            <a:r>
              <a:t>tools/trajectory_evolution/experiments/appworld/README.md</a:t>
            </a:r>
          </a:p>
          <a:p>
            <a:r>
              <a:t>tools/trajectory_evolution/docs/19-datasets-and-benchmarks.md</a:t>
            </a:r>
          </a:p>
          <a:p>
            <a:r>
              <a:t>tools/trajectory_evolution/docs/INTERMEDIATE_ARTIFACTS.md</a:t>
            </a:r>
          </a:p>
          <a:p>
            <a:r>
              <a:t>trace_output/appworld/gepa/l0-current-stage500/result.json</a:t>
            </a:r>
          </a:p>
          <a:p>
            <a:r>
              <a:t>trace_output/appworld/gepa/seed-search-71-stage500/comparison.json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第11页｜记忆是带来源与资格的经验库，不是自由追加文本</a:t>
            </a:r>
          </a:p>
          <a:p>
            <a:r>
              <a:t>建议用时：60秒</a:t>
            </a:r>
          </a:p>
          <a:p/>
          <a:p>
            <a:r>
              <a:t>后台将诊断转为有来源、scope、触发条件和支持证据的候选，经过合并、反证、审核和管理后进入经验库。私有记忆服务同一用户，公共记忆支持经过治理的跨用户协作，包括晋升、冲突和淘汰。置信度或入库条数不能当收益证据，未批准经验不能直接执行。配置模板常见auto_approve_experiences=false，公共共享默认开启，因此正式实验应显式隔离用户、数据目录和共享写回。公共经验的published状态与运行策略交付不是同一语义。</a:t>
            </a:r>
          </a:p>
          <a:p/>
          <a:p>
            <a:r>
              <a:t>来源与证据边界：</a:t>
            </a:r>
          </a:p>
          <a:p>
            <a:r>
              <a:t>tools/trajectory_evolution/docs/12-reflection-and-candidates.md</a:t>
            </a:r>
          </a:p>
          <a:p>
            <a:r>
              <a:t>tools/trajectory_evolution/docs/13-private-memory.md</a:t>
            </a:r>
          </a:p>
          <a:p>
            <a:r>
              <a:t>tools/trajectory_evolution/docs/14-shared-memory.md</a:t>
            </a:r>
          </a:p>
          <a:p>
            <a:r>
              <a:t>trace_output/appworld/training/evolution/by-user/appworld-training/memory/evolution-memory.json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第12页｜快照冻结内容；检索用当前观察筛选适用经验</a:t>
            </a:r>
          </a:p>
          <a:p>
            <a:r>
              <a:t>建议用时：60秒</a:t>
            </a:r>
          </a:p>
          <a:p/>
          <a:p>
            <a:r>
              <a:t>运行时先按批准状态与授权编译快照，保存memory_id、content_revision与策略版本，再按当前任务和状态做词面检索。检索副本排除系统指令、既有经验和工具定义，保留当前用户请求及可见助手调用和工具消息；这些消息并不全是已执行事实。默认至少两个独立命中词，具体规则与数量字节预算还会进一步筛选。部分经验可添加observed_operations，要求同分支已执行动作提供证据。L2和L3结构化控制独立于L1 top-K。词面命中不能保证识别否定与阶段语义，这是误触发和漏触发的重要研究空间。</a:t>
            </a:r>
          </a:p>
          <a:p/>
          <a:p>
            <a:r>
              <a:t>来源与证据边界：</a:t>
            </a:r>
          </a:p>
          <a:p>
            <a:r>
              <a:t>tools/trajectory_evolution/docs/15-policy-snapshots.md:92-136</a:t>
            </a:r>
          </a:p>
          <a:p>
            <a:r>
              <a:t>tools/trajectory_evolution/src/service/local_runtime.cpp:292,368</a:t>
            </a:r>
          </a:p>
          <a:p>
            <a:r>
              <a:t>tools/trajectory_evolution/src/runtime/policy_runtime.cpp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第13页｜L1：经验必须进入真实模型请求才算应用</a:t>
            </a:r>
          </a:p>
          <a:p>
            <a:r>
              <a:t>建议用时：60秒</a:t>
            </a:r>
          </a:p>
          <a:p/>
          <a:p>
            <a:r>
              <a:t>L1最容易被误报，因为检索命中不代表LLM真正看到了内容。当前LLM wrapper在环境版本v1且EVOLUTION_POINT_CONFIG有效时调用演化组件，真实trace_call使用返回的request.messages和tools；组件记住prepared query并复核正文。AppWorld启用preserve_runtime_policy_state，原生宿主每run也保留固定对象；这两种场景中每条memory_id只准备一次新注入，同prepared query重放不算新注入。HTTP默认不保留该对象，不能把once推广到所有配置或跨崩溃。后续技能重建消息还涉及宿主保留逻辑。即便注入正确，模型也可能不遵循，所以回执只是介入证据。595次L1应用不能解释为595题改善。</a:t>
            </a:r>
          </a:p>
          <a:p/>
          <a:p>
            <a:r>
              <a:t>来源与证据边界：</a:t>
            </a:r>
          </a:p>
          <a:p>
            <a:r>
              <a:t>packages/agentflow-runtime/src/agentflow_runtime/llm_call.py:89,101</a:t>
            </a:r>
          </a:p>
          <a:p>
            <a:r>
              <a:t>tools/trajectory_evolution/src/runtime/policy_runtime.cpp:514-560</a:t>
            </a:r>
          </a:p>
          <a:p>
            <a:r>
              <a:t>tools/trajectory_evolution/src/service/integration_service.cpp:1767-1777</a:t>
            </a:r>
          </a:p>
          <a:p>
            <a:r>
              <a:t>tools/trajectory_evolution/experiments/appworld/layout.py:286</a:t>
            </a:r>
          </a:p>
          <a:p>
            <a:r>
              <a:t>trace_output/appworld/gepa/seed-search-71-stage500/comparison.json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第14页｜L2：在动作与派发位置落实结构化约束</a:t>
            </a:r>
          </a:p>
          <a:p>
            <a:r>
              <a:t>建议用时：60秒</a:t>
            </a:r>
          </a:p>
          <a:p/>
          <a:p>
            <a:r>
              <a:t>L2分为动作和编排两类。动作控制检查必填参数、失败与重试预算并决定allow或reject，当前不重写动作参数；编排控制对技能派发及依赖关系生效，由宿主绑定接受的exec_skill_key和batch_id。学习生成的规则必须有批准来源并符合scope，不能靠后台模型任意引入未授权控制；部署的基础规则另有配置语义。当前AppWorld最佳500题策略L2动作与编排应用均为0，说明这个结果没有支持L2对收益的贡献。后续需要专门设计有实际控制机会的任务，并设置独立消融。</a:t>
            </a:r>
          </a:p>
          <a:p/>
          <a:p>
            <a:r>
              <a:t>来源与证据边界：</a:t>
            </a:r>
          </a:p>
          <a:p>
            <a:r>
              <a:t>packages/agentflow-runtime/src/agentflow_runtime/skill_executor.py:83,1359</a:t>
            </a:r>
          </a:p>
          <a:p>
            <a:r>
              <a:t>packages/agentflow-runtime/src/agentflow_runtime/coordinator_decide.py:1776,1787</a:t>
            </a:r>
          </a:p>
          <a:p>
            <a:r>
              <a:t>tools/trajectory_evolution/docs/16-runtime-controls.md</a:t>
            </a:r>
          </a:p>
          <a:p>
            <a:r>
              <a:t>trace_output/appworld/gepa/seed-search-71-stage500/comparison.json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第15页｜L3：用真实进展控制 continue / replan / stop</a:t>
            </a:r>
          </a:p>
          <a:p>
            <a:r>
              <a:t>建议用时：60秒</a:t>
            </a:r>
          </a:p>
          <a:p/>
          <a:p>
            <a:r>
              <a:t>L3在下一轮开始前检查是否继续、重规划或停止。Coordinator和Skill Executor都在v1循环边界调用allow_loop，控制依赖该分支的近期观察和进展条件。同分支存在在途动作时固定continue，不stop或replan；L3也不是把整个Session强制结束。replan.commit本身不计应用，要在下一次真实模型请求中核验到replan context。关键风险是把暂时缺少新观察误认为无进展，从而提前停止仍可能成功的任务。最佳500只有4次L3应用，不能据此说系统性证明循环策略收益。应将提前停止失败与正常减少重复操作分开统计。</a:t>
            </a:r>
          </a:p>
          <a:p/>
          <a:p>
            <a:r>
              <a:t>来源与证据边界：</a:t>
            </a:r>
          </a:p>
          <a:p>
            <a:r>
              <a:t>packages/agentflow-runtime/src/agentflow_runtime/coordinator_decide.py:1362</a:t>
            </a:r>
          </a:p>
          <a:p>
            <a:r>
              <a:t>packages/agentflow-runtime/src/agentflow_runtime/skill_executor.py:834</a:t>
            </a:r>
          </a:p>
          <a:p>
            <a:r>
              <a:t>tools/trajectory_evolution/docs/16-runtime-controls.md</a:t>
            </a:r>
          </a:p>
          <a:p>
            <a:r>
              <a:t>trace_output/appworld/gepa/seed-search-71-stage500/comparison.json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第16页｜一条经验怎样走到真实行为：以 API 参数错误为例</a:t>
            </a:r>
          </a:p>
          <a:p>
            <a:r>
              <a:t>建议用时：60秒</a:t>
            </a:r>
          </a:p>
          <a:p/>
          <a:p>
            <a:r>
              <a:t>核心产物文档展示过一条真实训练错误：工具接口只接受关键字参数，Agent用了位置参数导致TypeError。后台可从错误及后续修复提炼有来源的经验，审核后编译成策略，在符合scope和观察条件的模型边界注入。接下来需要核验LLM请求是否真正含有经验、下一次调用是否按接口修复、最终任务是否通过。这里展示的是证据链的读法，而不是本轮证明该经验对哪道题产生了因果提升。文档引用的原轨迹在当前副本缺失，这一限制必须明确。</a:t>
            </a:r>
          </a:p>
          <a:p/>
          <a:p>
            <a:r>
              <a:t>来源与证据边界：</a:t>
            </a:r>
          </a:p>
          <a:p>
            <a:r>
              <a:t>tools/trajectory_evolution/docs/INTERMEDIATE_ARTIFACTS.md:22-84</a:t>
            </a:r>
          </a:p>
          <a:p>
            <a:r>
              <a:t>packages/agentflow-runtime/src/agentflow_runtime/llm_call.py:89,101</a:t>
            </a:r>
          </a:p>
          <a:p>
            <a:r>
              <a:t>tools/trajectory_evolution/docs/15-policy-snapshots.md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第17页｜GEPA 在后台反思、变异、重组并比较候选</a:t>
            </a:r>
          </a:p>
          <a:p>
            <a:r>
              <a:t>建议用时：60秒</a:t>
            </a:r>
          </a:p>
          <a:p/>
          <a:p>
            <a:r>
              <a:t>GEPA原论文使用轨迹反思提出并测试提示更新，并从Pareto前沿组合互补经验。本仓库进一步把经验正文、触发条件、动作和循环控制纳入候选。父策略执行后提供正式质量、严格通过、无效loop、应用证据和失败观察，模型生成合法变异，多父候选可重组；训练筛选和val再决定保留。搜索预算、来源绑定、授权和输入预算都限制可选空间。代码有Frontier、多父重组和ComBEE路径，不意味着每个实验节点都执行了所有搜索机制，也不应直接移用论文中的提升数字。</a:t>
            </a:r>
          </a:p>
          <a:p/>
          <a:p>
            <a:r>
              <a:t>来源与证据边界：</a:t>
            </a:r>
          </a:p>
          <a:p>
            <a:r>
              <a:t>tools/trajectory_evolution/src/gepa/gepa_search.cpp</a:t>
            </a:r>
          </a:p>
          <a:p>
            <a:r>
              <a:t>tools/trajectory_evolution/src/evaluation/agent_evaluation.cpp</a:t>
            </a:r>
          </a:p>
          <a:p>
            <a:r>
              <a:t>tools/trajectory_evolution/docs/24-evolution-and-gepa.md</a:t>
            </a:r>
          </a:p>
          <a:p>
            <a:r>
              <a:t>GEPA原论文：https://arxiv.org/abs/2507.19457（仅用于算法背景）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第18页｜准入与交付：通过门禁才能称为合格策略</a:t>
            </a:r>
          </a:p>
          <a:p>
            <a:r>
              <a:t>建议用时：60秒</a:t>
            </a:r>
          </a:p>
          <a:p/>
          <a:p>
            <a:r>
              <a:t>后台流程有训练筛选、val比较、最终对照与交付。当前训练筛选对平均loop和资源相对父策略有启发式上界，并检查受影响任务和关键违规。现有注释中的逐题约束不能理解为每道题loop都不退化，因为相关函数还比较平均数。AppWorld正式发布要求同题完整500中strict和Q相对提升至少5%，平均无效loop相对下降至少15%。最终require_level_coverage默认false，所以门禁通过也不必然证明L1、L2、L3每级都参与。截止交付可以明确导出best_available_not_qualified，交付文件存在不等于目标达成。</a:t>
            </a:r>
          </a:p>
          <a:p/>
          <a:p>
            <a:r>
              <a:t>来源与证据边界：</a:t>
            </a:r>
          </a:p>
          <a:p>
            <a:r>
              <a:t>tools/trajectory_evolution/src/gepa/gepa_strategy.cpp:53-75</a:t>
            </a:r>
          </a:p>
          <a:p>
            <a:r>
              <a:t>tools/trajectory_evolution/src/gepa/gepa_search.cpp:7504-7544</a:t>
            </a:r>
          </a:p>
          <a:p>
            <a:r>
              <a:t>tools/trajectory_evolution/src/evaluation/agent_evaluation.cpp:970-973</a:t>
            </a:r>
          </a:p>
          <a:p>
            <a:r>
              <a:t>tools/trajectory_evolution/experiments/appworld/README.md</a:t>
            </a:r>
          </a:p>
          <a:p>
            <a:r>
              <a:t>trace_output/appworld/published/strategy/manifest.json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第19页｜AppWorld 协议：500 题结果属于开发对照</a:t>
            </a:r>
          </a:p>
          <a:p>
            <a:r>
              <a:t>建议用时：60秒</a:t>
            </a:r>
          </a:p>
          <a:p/>
          <a:p>
            <a:r>
              <a:t>AppWorld提供可执行的应用世界和状态评分，适合观察跨工具、多步任务。仓库当前训练集134题，包括90道官方TRAIN和44道公开TRAIN环境补充题；当前原树冻结在132题，选定seed又有自己的不可变来源，因此三者要分开。val为12题，最终500包含131 test_normal、327 test_challenge和42 dev。32和100题是这500的开发前缀，而且开发中参考过失败结果。因此即便目录叫holdout.jsonl，500也不是独立留出；它是当前开发对照。未来应先锁定训练与开发协议，再使用不反复查看的确认评测。</a:t>
            </a:r>
          </a:p>
          <a:p/>
          <a:p>
            <a:r>
              <a:t>来源与证据边界：</a:t>
            </a:r>
          </a:p>
          <a:p>
            <a:r>
              <a:t>tools/trajectory_evolution/experiments/appworld/README.md</a:t>
            </a:r>
          </a:p>
          <a:p>
            <a:r>
              <a:t>tools/trajectory_evolution/experiments/appworld/datasets/manifest.json</a:t>
            </a:r>
          </a:p>
          <a:p>
            <a:r>
              <a:t>trace_output/appworld/published/strategy/manifest.json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  <a:p>
            <a:r>
              <a:t>AppWorld官方仓库：https://github.com/StonyBrookNLP/appworld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第20页｜AppWorld 流程脚本已交付，当前成绩未达目标</a:t>
            </a:r>
          </a:p>
          <a:p>
            <a:r>
              <a:t>建议用时：60秒</a:t>
            </a:r>
          </a:p>
          <a:p/>
          <a:p>
            <a:r>
              <a:t>reproduce.sh串联训练、原生学习审核、冻结seed、32和100门禁、GEPA、至多三个候选的500对照和发布，也提供resume与只读status。已有全链路脚本与复现说明，但本机AppWorld虚拟环境、world与相关build产物缺失，不能说当前已可直接运行或本轮已从头复现。manifest记录delivered、best_available_not_qualified、goal_passed=false、gepa_completion_claimed=false、independent_holdout=false。导出0模型调用仅指交付这一步，不能说完整实验0费用。原GEPA搜索已取消，没有新合格完整500。历史运行Git commit不能证明等于当前HEAD，现存摘要仅保留Host v22、Judge d81与冻结策略身份。</a:t>
            </a:r>
          </a:p>
          <a:p/>
          <a:p>
            <a:r>
              <a:t>来源与证据边界：</a:t>
            </a:r>
          </a:p>
          <a:p>
            <a:r>
              <a:t>tools/trajectory_evolution/experiments/appworld/README.md</a:t>
            </a:r>
          </a:p>
          <a:p>
            <a:r>
              <a:t>tools/trajectory_evolution/experiments/appworld/reproduce.sh</a:t>
            </a:r>
          </a:p>
          <a:p>
            <a:r>
              <a:t>trace_output/appworld/published/strategy/manifest.json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第21页｜最佳已评分 seed：成功增加，loop 明显减少</a:t>
            </a:r>
          </a:p>
          <a:p>
            <a:r>
              <a:t>建议用时：60秒</a:t>
            </a:r>
          </a:p>
          <a:p/>
          <a:p>
            <a:r>
              <a:t>两边均有500条完成和评分摘要。正式严格通过从322增加到338，正式有效质量从0.644到0.676，绝对增加3.2个百分点；相对提升16除以322，为4.968944%。配对结果78题改善、62题退步、360题不变，净增16，因此收益与退化都要保留。平均无效loop从0.380降到0.204，降幅46.315789%。这支持冻结seed在当前开发范围具有观察到的改善，但5%的质量门槛需要至少339道严格通过题，338不能四舍五入视为通过。由于不是独立留出，也没有多次重复实验，这些数值不能直接证明泛化、稳定或因果收益。</a:t>
            </a:r>
          </a:p>
          <a:p/>
          <a:p>
            <a:r>
              <a:t>来源与证据边界：</a:t>
            </a:r>
          </a:p>
          <a:p>
            <a:r>
              <a:t>trace_output/appworld/gepa/seed-search-71-stage500/comparison.json</a:t>
            </a:r>
          </a:p>
          <a:p>
            <a:r>
              <a:t>trace_output/appworld/gepa/l0-current-stage500/result.json</a:t>
            </a:r>
          </a:p>
          <a:p>
            <a:r>
              <a:t>trace_output/appworld/published/strategy/manifest.json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第22页｜完整指标表：冻结 seed 与当前搜索节点分开列</a:t>
            </a:r>
          </a:p>
          <a:p>
            <a:r>
              <a:t>建议用时：60秒</a:t>
            </a:r>
          </a:p>
          <a:p/>
          <a:p>
            <a:r>
              <a:t>当前树Node0使用的策略版本与历史seed-search-71完整500策略一致。Node30的parent也是0，因此比较时父策略就是这一冻结seed，但Node30未生成完整500成绩。完整500表只能列L0和父seed；当前节点对应列保持暂无。父seed真实应用L1为595次、L2为0、L3为4。候选原执行时延500题均值172.43秒，token和调用只覆盖497题；L0缺完整资源统计，不能用已知片段补零。原执行均值也不能代替包含重试、评测、反思和学习的实验总成本。</a:t>
            </a:r>
          </a:p>
          <a:p/>
          <a:p>
            <a:r>
              <a:t>来源与证据边界：</a:t>
            </a:r>
          </a:p>
          <a:p>
            <a:r>
              <a:t>trace_output/appworld/gepa/seed-search-71-stage500/comparison.json</a:t>
            </a:r>
          </a:p>
          <a:p>
            <a:r>
              <a:t>trace_output/appworld/gepa/l0-current-stage500/result.json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  <a:p>
            <a:r>
              <a:t>tools/trajectory_evolution/experiments/appworld/README.md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第23页｜30 轮搜索：尚未产生新的 accepted 节点</a:t>
            </a:r>
          </a:p>
          <a:p>
            <a:r>
              <a:t>建议用时：60秒</a:t>
            </a:r>
          </a:p>
          <a:p/>
          <a:p>
            <a:r>
              <a:t>当前树共31个节点，包含accepted seed0与30次搜索，记录395次优化器反思调用。30个新节点状态error13、duplicate5、untriggerable_controls4、interrupted3、inconclusive2、unobserved_changes2、rejected_minibatch1，新accepted为0。Node26全32 strict22到24，Q .6875到.75，loop都0，但实际变更影响8题strict均6、Q均.75，并出现关键违规1，因此拒绝；时延134.608到142.609秒，子应用L1=33/L2=L3=0。Node28另一32 strict25到26，Q .78125到.8125，loop .5625到.28125，时延120.735到111.960秒，但新增L3应用0，子只有旧L1=32，因此unobserved_changes。最新Node30局部数字只来自WORK_STATUS：同31父子strict20、Q20/31，loop4/31到11/31，时延与同31应用次数暂无，不能复算原报告。作业cancelled，final_holdout.running是遗留字段。</a:t>
            </a:r>
          </a:p>
          <a:p/>
          <a:p>
            <a:r>
              <a:t>来源与证据边界：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  <a:p>
            <a:r>
              <a:t>tools/trajectory_evolution/docs/WORK_STATUS.md:1-7（历史执行记录；不是本次重跑）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第24页｜业务实验显示：成绩选择可能掩盖整体退步</a:t>
            </a:r>
          </a:p>
          <a:p>
            <a:r>
              <a:t>建议用时：60秒</a:t>
            </a:r>
          </a:p>
          <a:p/>
          <a:p>
            <a:r>
              <a:t>业务seed004的300题子集文件明确写method=performance_informed_business_acceptance，limitations说明子集依据已测成绩选择。在这个300子集上，Q从0.4690到0.5578，严格通过113到145，loop3.073到1.973。然而同文件full400的Q从0.5284降到0.5117，strict177到168，loop2.870到2.955。最终500又由已选300加200训练回放组成，并标independent_holdout=false。因此all_goals_met=true只能描述这个协议下的门禁结果，不能作为泛化成功。不同分母不能拼接比较，也不以早期不完整评分推翻后续结果。</a:t>
            </a:r>
          </a:p>
          <a:p/>
          <a:p>
            <a:r>
              <a:t>来源与证据边界：</a:t>
            </a:r>
          </a:p>
          <a:p>
            <a:r>
              <a:t>trace_output/business-simulator/published/seed004/baseline-cache/comparison300.json:1；/L0、/candidate、/full400、/limitations</a:t>
            </a:r>
          </a:p>
          <a:p>
            <a:r>
              <a:t>trace_output/business-simulator/published/seed004/comparison.json:1；manifest.json；independent_holdout=false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第25页｜目前的主要问题集中在四个证据缺口</a:t>
            </a:r>
          </a:p>
          <a:p>
            <a:r>
              <a:t>建议用时：60秒</a:t>
            </a:r>
          </a:p>
          <a:p/>
          <a:p>
            <a:r>
              <a:t>第一是覆盖和归属：AppWorld实际应用记录以L1为主，L2零应用、L3四次；各层收益贡献尚待消融，新增控制可能不触发。第二是泛化：500用于开发反馈，业务子集又按成绩选择。第三是稳定性和成本：反思调用不少，但30个搜索节点没有新accepted；L0与额外尝试费用缺失，不能说效率提升。第四是运行和证据闭合：v2完整接线未验证，当前副本缺失原报告与运行环境；原生及bufferedHTTP的接受回执也不等于落盘。以上事实指向研究设计和工程准备，但没有故障注入证据的恢复风险只能列为静态边界。</a:t>
            </a:r>
          </a:p>
          <a:p/>
          <a:p>
            <a:r>
              <a:t>来源与证据边界：</a:t>
            </a:r>
          </a:p>
          <a:p>
            <a:r>
              <a:t>trace_output/appworld/gepa/seed-search-71-stage500/comparison.json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  <a:p>
            <a:r>
              <a:t>tools/trajectory_evolution/experiments/appworld/README.md</a:t>
            </a:r>
          </a:p>
          <a:p>
            <a:r>
              <a:t>packages/agentflow-runtime/src/agentflow_runtime/llm_call.py:89</a:t>
            </a:r>
          </a:p>
          <a:p>
            <a:r>
              <a:t>tools/trajectory_evolution/src/service/local_runtime.cpp:671</a:t>
            </a:r>
          </a:p>
          <a:p>
            <a:r>
              <a:t>tools/trajectory_evolution/src/service/integration_service.cpp:1340,2743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第26页｜下一步研究问题：触发、控制与泛化如何闭合？</a:t>
            </a:r>
          </a:p>
          <a:p>
            <a:r>
              <a:t>建议用时：60秒</a:t>
            </a:r>
          </a:p>
          <a:p/>
          <a:p>
            <a:r>
              <a:t>建议先聚焦一个主问题：在冻结模型与预算下，基于真实观察、作用域和阶段的经验触发机制，能否比固定经验注入稳定提升独立留出成功率，并减少无效loop？它可以分为三条可检验问题：条件编译是否减少误触发和漏触发，L2或L3实际介入是否贡献任务改善，训练与开发得到的策略能否迁移到未观察任务族。贡献定位应放在可验证行为自进化，而不是声称我们实现了全新的GEPA，或把更多搜索轮数当成研究贡献。</a:t>
            </a:r>
          </a:p>
          <a:p/>
          <a:p>
            <a:r>
              <a:t>来源与证据边界：</a:t>
            </a:r>
          </a:p>
          <a:p>
            <a:r>
              <a:t>tools/trajectory_evolution/docs/15-policy-snapshots.md:94-136</a:t>
            </a:r>
          </a:p>
          <a:p>
            <a:r>
              <a:t>tools/trajectory_evolution/docs/24-evolution-and-gepa.md</a:t>
            </a:r>
          </a:p>
          <a:p>
            <a:r>
              <a:t>trace_output/appworld/gepa/seed-search-71-stage500/comparison.json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第27页｜方向一：让经验在正确阶段触发，并留下可核验证据</a:t>
            </a:r>
          </a:p>
          <a:p>
            <a:r>
              <a:t>建议用时：60秒</a:t>
            </a:r>
          </a:p>
          <a:p/>
          <a:p>
            <a:r>
              <a:t>当前词面检索是可解释、低开销的基线，但否定表达、长上下文和阶段变化会引起误匹配。建议后台从训练观察生成有限条件：必要错误或状态、已执行操作、阶段、作用域与否定条件，在线只读取结构化事实而不增加同步反思调用。每条候选保存触发依据、prepared query、真实模型请求与后续动作差分。先做训练上的命中与负样本诊断，再在固定dev比较，最后冻结后进入确认集。任何新约束仍要经过已有批准和预算流程，不能手写测试答案进入经验。</a:t>
            </a:r>
          </a:p>
          <a:p/>
          <a:p>
            <a:r>
              <a:t>来源与证据边界：</a:t>
            </a:r>
          </a:p>
          <a:p>
            <a:r>
              <a:t>tools/trajectory_evolution/docs/15-policy-snapshots.md:124-153</a:t>
            </a:r>
          </a:p>
          <a:p>
            <a:r>
              <a:t>tools/trajectory_evolution/docs/16-runtime-controls.md</a:t>
            </a:r>
          </a:p>
          <a:p>
            <a:r>
              <a:t>packages/agentflow-runtime/src/agentflow_runtime/llm_call.py:89,101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第28页｜方向二：用消融和配对实验检验真实收益</a:t>
            </a:r>
          </a:p>
          <a:p>
            <a:r>
              <a:t>建议用时：60秒</a:t>
            </a:r>
          </a:p>
          <a:p/>
          <a:p>
            <a:r>
              <a:t>建议对照至少包含L0原始Agent、固定批准经验、带条件的L1策略、以及按任务需要加入L2或L3的策略。对完整策略做关闭L2或关闭L3的消融，才能识别控制层贡献。使用相同环境快照、冻结裁判和相同任务，运行多次随机重复，保留逐题赢输与退化。按任务族划分训练、开发和未触碰确认集；各组memory和data_dir隔离，测试不写回。主指标使用正式strict与官方TGC分别报告，辅助指标为Q、无效loop、提前停止、触发错误与总成本，并给区间而不是只看一次均值。</a:t>
            </a:r>
          </a:p>
          <a:p/>
          <a:p>
            <a:r>
              <a:t>来源与证据边界：</a:t>
            </a:r>
          </a:p>
          <a:p>
            <a:r>
              <a:t>tools/trajectory_evolution/experiments/appworld/README.md</a:t>
            </a:r>
          </a:p>
          <a:p>
            <a:r>
              <a:t>tools/trajectory_evolution/docs/19-datasets-and-benchmarks.md</a:t>
            </a:r>
          </a:p>
          <a:p>
            <a:r>
              <a:t>trace_output/appworld/gepa/seed-search-71-stage500/comparison.json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第29页｜建议按证据闭合顺序推进，而非继续堆搜索轮数</a:t>
            </a:r>
          </a:p>
          <a:p>
            <a:r>
              <a:t>建议用时：60秒</a:t>
            </a:r>
          </a:p>
          <a:p/>
          <a:p>
            <a:r>
              <a:t>第一阶段先整理一个可迁移的证据包，保留原生报告、冻结模型与裁判身份、环境版本、memory和策略，修清默认模板与受测v1的接线边界，不重写旧成绩。第二阶段在训练和固定dev验证条件触发与应用回执，统计正负触发、提前停止和逐题退化。第三阶段做等预算消融和多次重复，并预先冻结确认集。第四阶段一次性确认，形成结果表、失败分类和完整成本。若选择可靠性为独立方向，还需先定义可接受丢失窗口，再进行故障注入；当前静态恢复能力不能当已验证保证。</a:t>
            </a:r>
          </a:p>
          <a:p/>
          <a:p>
            <a:r>
              <a:t>来源与证据边界：</a:t>
            </a:r>
          </a:p>
          <a:p>
            <a:r>
              <a:t>tools/trajectory_evolution/experiments/appworld/README.md</a:t>
            </a:r>
          </a:p>
          <a:p>
            <a:r>
              <a:t>tools/trajectory_evolution/docs/18-storage-and-recovery.md</a:t>
            </a:r>
          </a:p>
          <a:p>
            <a:r>
              <a:t>tools/trajectory_evolution/docs/22-testing-and-extension.md</a:t>
            </a:r>
          </a:p>
          <a:p>
            <a:r>
              <a:t>trace_output/appworld/published/strategy/manifest.json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第30页｜请导师帮助确定三个取舍</a:t>
            </a:r>
          </a:p>
          <a:p>
            <a:r>
              <a:t>建议用时：90秒</a:t>
            </a:r>
          </a:p>
          <a:p/>
          <a:p>
            <a:r>
              <a:t>今天希望确定三个取舍。第一，主贡献放在条件触发与可验证行为控制，还是放在后台搜索效率，建议优先前者，因为当前数据直接暴露了实际应用和收益之间的缺口。第二，AppWorld作为主任务环境，业务任务作为机制诊断，是否合适；两者分开报告，不做跨基准分数比较。第三，能投入多少重复评测和确认集预算，并允许哪些L2或L3干预。得到这三项决定后，可以用阶段验收推进，而不是无限增加节点。当前可以诚实报告的基础是工程闭环与开发范围改善，尚待解决的是稳定、泛化和成本。</a:t>
            </a:r>
          </a:p>
          <a:p/>
          <a:p>
            <a:r>
              <a:t>来源与证据边界：</a:t>
            </a:r>
          </a:p>
          <a:p>
            <a:r>
              <a:t>trace_output/appworld/gepa/seed-search-71-stage500/comparison.json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  <a:p>
            <a:r>
              <a:t>trace_output/appworld/published/strategy/manifest.json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第31页｜源码阅读路线：先运行链，再学习链</a:t>
            </a:r>
          </a:p>
          <a:p>
            <a:r>
              <a:t>建议用时：45秒</a:t>
            </a:r>
          </a:p>
          <a:p/>
          <a:p>
            <a:r>
              <a:t>第一遍沿一轮任务读Bridge、RPC、SessionRouter、Batch、Worker与Python技能循环；第二遍沿一条轨迹读LocalRuntime或IntegrationService、评测、候选、memory、PolicyRuntime与GEPA；第三遍只读AppWorld实验控制器和冻结产物。不要从历史设计文档的函数名推断当前路径，也不要用README完成百分比替代源代码与测试证据。构建、单元、集成与真实模型验收分开进行，本次梳理没有执行这些运行验证。</a:t>
            </a:r>
          </a:p>
          <a:p/>
          <a:p>
            <a:r>
              <a:t>来源与证据边界：</a:t>
            </a:r>
          </a:p>
          <a:p>
            <a:r>
              <a:t>frontend/bridge/routes/chat_rest.py</a:t>
            </a:r>
          </a:p>
          <a:p>
            <a:r>
              <a:t>src/daemon/rpc_handler.cpp</a:t>
            </a:r>
          </a:p>
          <a:p>
            <a:r>
              <a:t>src/agent/agent.cpp</a:t>
            </a:r>
          </a:p>
          <a:p>
            <a:r>
              <a:t>packages/agentflow-runtime/src/agentflow_runtime/</a:t>
            </a:r>
          </a:p>
          <a:p>
            <a:r>
              <a:t>tools/trajectory_evolution/src/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第32页｜接入范围：v1、v2、配置与入口必须分开核验</a:t>
            </a:r>
          </a:p>
          <a:p>
            <a:r>
              <a:t>建议用时：45秒</a:t>
            </a:r>
          </a:p>
          <a:p/>
          <a:p>
            <a:r>
              <a:t>当前模型和工具wrapper以AF_COORDINATOR_VERSION环境值判断：显式v2时不接演化，缺省按v1。默认模板缺省选择v2脚本，却不export该环境值；v2 coordinator_agent_loop又复用同一call_llm，因此环境未设且演化配置有效时，模型路径仍可能间接进入打点。当前未见v2同等的直接dispatch/loop接线，完整v2适配和默认环境一致性未做真实验证。专用BFCL、AppWorld及v1复现runner明确使用v1。EVOLUTION_POINT_CONFIG缺失时这组隐式wrapper不启用；Bridge仅在专门评测开关下绑定aevaluate。实验成功不能推定默认业务模板加载同一策略。</a:t>
            </a:r>
          </a:p>
          <a:p/>
          <a:p>
            <a:r>
              <a:t>来源与证据边界：</a:t>
            </a:r>
          </a:p>
          <a:p>
            <a:r>
              <a:t>packages/agentflow-runtime/src/agentflow_runtime/llm_call.py:89</a:t>
            </a:r>
          </a:p>
          <a:p>
            <a:r>
              <a:t>packages/agentflow-runtime/src/agentflow_runtime/skill_executor.py:83</a:t>
            </a:r>
          </a:p>
          <a:p>
            <a:r>
              <a:t>frontend/bridge/templates/agent_template/harness_agent/nodes/coordinator_decide.sh:24</a:t>
            </a:r>
          </a:p>
          <a:p>
            <a:r>
              <a:t>packages/agentflow-runtime/src/agentflow_runtime/coordinator_agent_loop.py:32,370</a:t>
            </a:r>
          </a:p>
          <a:p>
            <a:r>
              <a:t>frontend/bridge/main.py:234</a:t>
            </a:r>
          </a:p>
          <a:p>
            <a:r>
              <a:t>tools/trajectory_evolution/clients/python/evolution_configured.py:141</a:t>
            </a:r>
          </a:p>
          <a:p>
            <a:r>
              <a:t>configs/reproduction/v1-l3/manifest.json:29</a:t>
            </a:r>
          </a:p>
          <a:p>
            <a:r>
              <a:t>examples/agent/business-simulator/appworld/appworld_agent_runtime.py:341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第33页｜持久化与恢复：接受、落盘与业务续跑不同</a:t>
            </a:r>
          </a:p>
          <a:p>
            <a:r>
              <a:t>建议用时：45秒</a:t>
            </a:r>
          </a:p>
          <a:p/>
          <a:p>
            <a:r>
              <a:t>原生LocalRuntime用有界内存接收事件，drain写一次active初始快照和closed最终快照，中间事件不是逐条durable journal。HTTP支持buffered和durable模式，buffered save只入队并返回persisted=false，需要run.status或flush确认。启动时将已落盘未关闭运行标为producer_interrupted并abort或隔离，后台学习和评测作业可恢复，但不是从上次工具动作继续业务。maintain_runs按10000阈值向archive移动，归档不释放磁盘。这些静态事实提示恢复责任和磁盘预算需要设计，不能据此断言已复现数据丢失。</a:t>
            </a:r>
          </a:p>
          <a:p/>
          <a:p>
            <a:r>
              <a:t>来源与证据边界：</a:t>
            </a:r>
          </a:p>
          <a:p>
            <a:r>
              <a:t>tools/trajectory_evolution/src/service/local_runtime.cpp:671-738</a:t>
            </a:r>
          </a:p>
          <a:p>
            <a:r>
              <a:t>tools/trajectory_evolution/src/service/integration_service.cpp:669-695,844,1340,2685,2743,2804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第34页｜状态字典：同一个“完成”不能覆盖整条链路</a:t>
            </a:r>
          </a:p>
          <a:p>
            <a:r>
              <a:t>建议用时：45秒</a:t>
            </a:r>
          </a:p>
          <a:p/>
          <a:p>
            <a:r>
              <a:t>completed表示执行终态；persisted表示指定采集状态已落盘；evaluated表示评分完成；approved表示经验获得应用资格；published在公共memory中可指经验发布，在策略交付中又有不同语义；loaded_version表示宿主加载版本；advice.applied表示核验到控制进入真实边界；passed或goal_passed才回答任务与实验门槛。client.delivery还只声明server_side_observation，并不是远端客户端已确认收到。这样区分能避免把一张交付文件或一个活进程解释成实验成功。</a:t>
            </a:r>
          </a:p>
          <a:p/>
          <a:p>
            <a:r>
              <a:t>来源与证据边界：</a:t>
            </a:r>
          </a:p>
          <a:p>
            <a:r>
              <a:t>tools/trajectory_evolution/docs/README.md</a:t>
            </a:r>
          </a:p>
          <a:p>
            <a:r>
              <a:t>trace_output/appworld/published/strategy/manifest.json</a:t>
            </a:r>
          </a:p>
          <a:p>
            <a:r>
              <a:t>frontend/bridge/services/sessionlog_delivery.py:266-267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第35页｜证据包：现有摘要可复算，原生来源仍需补齐</a:t>
            </a:r>
          </a:p>
          <a:p>
            <a:r>
              <a:t>建议用时：45秒</a:t>
            </a:r>
          </a:p>
          <a:p/>
          <a:p>
            <a:r>
              <a:t>当前AppWorld正式目录保留13个JSON，约6.4MB，含L0逐题摘要、候选comparison、tree、策略、manifest和memory。manifest引用六份候选native report和一份L0原报告，在旧root前缀映射到当前仓库后仍不存在。因此能复算两边500摘要的strict、Q、loop、应用次数和候选部分资源，不能从本机原轨迹核验每次工具行为或重新执行完整native来源校验。建议保存版本清单、环境与模型身份、脱敏配置、报告、官方IO、真实请求和全部尝试费用，利用相对路径或显式映射支持迁移。</a:t>
            </a:r>
          </a:p>
          <a:p/>
          <a:p>
            <a:r>
              <a:t>来源与证据边界：</a:t>
            </a:r>
          </a:p>
          <a:p>
            <a:r>
              <a:t>trace_output/appworld/published/strategy/manifest.json</a:t>
            </a:r>
          </a:p>
          <a:p>
            <a:r>
              <a:t>trace_output/appworld/gepa/seed-search-71-stage500/comparison.json</a:t>
            </a:r>
          </a:p>
          <a:p>
            <a:r>
              <a:t>trace_output/appworld/gepa/l0-current-stage500/result.json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  <a:p>
            <a:r>
              <a:t>tools/trajectory_evolution/docs/INTERMEDIATE_ARTIFACTS.md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第36页｜官方完成率与仓库严格验收分开报告</a:t>
            </a:r>
          </a:p>
          <a:p>
            <a:r>
              <a:t>建议用时：45秒</a:t>
            </a:r>
          </a:p>
          <a:p/>
          <a:p>
            <a:r>
              <a:t>官方任务状态检查与仓库模型严格验收会给出不同结果。L0原摘要official_strict_passed为323、候选为339，而正式strict分别为322和338。两边各有一题官方满分但组合严格验收未通过；原报告缺失，本次不能追查额外失败理由。正式Q在这批单目标任务里又等于正式严格通过率，不能把两者作为两项独立统计证据。official_quality是部分检查比例，只是辅助。所有对外成绩须注明当前自定义500范围、混合验收协议和非独立开发用途，不能放到AppWorld官方排行榜直接比较，更不能以官方339替代正式338通过门槛。</a:t>
            </a:r>
          </a:p>
          <a:p/>
          <a:p>
            <a:r>
              <a:t>来源与证据边界：</a:t>
            </a:r>
          </a:p>
          <a:p>
            <a:r>
              <a:t>trace_output/appworld/gepa/l0-current-stage500/result.json</a:t>
            </a:r>
          </a:p>
          <a:p>
            <a:r>
              <a:t>trace_output/appworld/gepa/seed-search-71-stage500/comparison.json</a:t>
            </a:r>
          </a:p>
          <a:p>
            <a:r>
              <a:t>tools/trajectory_evolution/experiments/appworld/README.md</a:t>
            </a:r>
          </a:p>
          <a:p>
            <a:r>
              <a:t>AppWorld官方仓库：https://github.com/StonyBrookNLP/appworld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第37页｜可复现入口与本次核查范围</a:t>
            </a:r>
          </a:p>
          <a:p>
            <a:r>
              <a:t>建议用时：45秒</a:t>
            </a:r>
          </a:p>
          <a:p/>
          <a:p>
            <a:r>
              <a:t>AppWorld README给出fresh真实API全流程、resume同作业恢复、plan与status只读查看，以及deliver-best-available只导出旧评分结果。fresh会重跑模型和可能清理实验空间，不是本次梳理需要做的动作。本机相关build与AppWorld虚拟环境缺失，脚本存在不等于当前可直接运行。本文只做当前源码静态核对、现存JSON复算、来源路径存在性检查以及PPT生成和渲染验证。历史专项测试不是本轮测试结果。BFCL当前结果缺失；tau2只保留控制脚本，宿主、数据和运行依赖未闭合，不能声称已完成tau2接入或报完整实验成绩。</a:t>
            </a:r>
          </a:p>
          <a:p/>
          <a:p>
            <a:r>
              <a:t>来源与证据边界：</a:t>
            </a:r>
          </a:p>
          <a:p>
            <a:r>
              <a:t>tools/trajectory_evolution/experiments/appworld/README.md</a:t>
            </a:r>
          </a:p>
          <a:p>
            <a:r>
              <a:t>tools/trajectory_evolution/experiments/appworld/reproduce.sh</a:t>
            </a:r>
          </a:p>
          <a:p>
            <a:r>
              <a:t>tools/trajectory_evolution/experiments/bfcl-v3/README.md</a:t>
            </a:r>
          </a:p>
          <a:p>
            <a:r>
              <a:t>tools/trajectory_evolution/experiments/tau2-retail-verified/tau2_experiment.py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第38页｜导师可能追问的五个问题</a:t>
            </a:r>
          </a:p>
          <a:p>
            <a:r>
              <a:t>建议用时：45秒</a:t>
            </a:r>
          </a:p>
          <a:p/>
          <a:p>
            <a:r>
              <a:t>如果问是否在训练模型，回答没有，当前演化经验和行为控制。如果问是否自进化成功，回答有冻结seed开发对照改善，但尚未达到既定质量门槛，也没有独立留出证明。如果问是否L3带来收益，回答只有四次应用，需要消融和触发诊断。如果问GEPA30轮是否有效，回答当前没有新accepted，工程问题与不可触发控制占据许多节点。如果问贡献在哪里，回答建议聚焦观察与阶段约束的条件触发以及行为介入证据，再用独立实验检验泛化与成本。</a:t>
            </a:r>
          </a:p>
          <a:p/>
          <a:p>
            <a:r>
              <a:t>来源与证据边界：</a:t>
            </a:r>
          </a:p>
          <a:p>
            <a:r>
              <a:t>trace_output/appworld/gepa/seed-search-71-stage500/comparison.json</a:t>
            </a:r>
          </a:p>
          <a:p>
            <a:r>
              <a:t>trace_output/appworld/gepa/workspace/agent-evaluation/f0d143a0298773c1bb0b0fbe1733f68feab42c2e53cf49b33e005c1d46f193b2/search/tree.json</a:t>
            </a:r>
          </a:p>
          <a:p>
            <a:r>
              <a:t>trace_output/appworld/published/strategy/manifest.json</a:t>
            </a:r>
          </a:p>
          <a:p>
            <a:r>
              <a:t>tools/trajectory_evolution/docs/24-evolution-and-gepa.md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AgentFlow 自进化系统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当前机制、实验进展与研究方向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从真实执行轨迹到可验证的行为策略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系统梳理 · 实验审计 · 下一步研究讨论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证据：harness_agent_poc_evo ·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01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57031" y="0"/>
            <a:ext cx="3931920" cy="6858000"/>
          </a:xfrm>
          <a:prstGeom prst="rect">
            <a:avLst/>
          </a:prstGeom>
          <a:solidFill>
            <a:srgbClr val="1B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94360"/>
            <a:ext cx="7406640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1">
                <a:solidFill>
                  <a:srgbClr val="77D1C7"/>
                </a:solidFill>
                <a:latin typeface="Noto Sans CJK SC"/>
                <a:ea typeface="Noto Sans CJK SC"/>
              </a:rPr>
              <a:t>导师阶段汇报  /  AGENT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545336"/>
            <a:ext cx="7498079" cy="1600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AgentFlow 自进化系统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当前机制、实验进展与研究方向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364992"/>
            <a:ext cx="7187184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100" b="0">
                <a:solidFill>
                  <a:srgbClr val="CFDFEC"/>
                </a:solidFill>
                <a:latin typeface="Noto Sans CJK SC"/>
                <a:ea typeface="Noto Sans CJK SC"/>
              </a:rPr>
              <a:t>从真实执行轨迹到可验证的行为策略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100" b="0">
                <a:solidFill>
                  <a:srgbClr val="CFDFEC"/>
                </a:solidFill>
                <a:latin typeface="Noto Sans CJK SC"/>
                <a:ea typeface="Noto Sans CJK SC"/>
              </a:rPr>
              <a:t>系统梳理 · 实验审计 · 下一步研究讨论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276088"/>
            <a:ext cx="7168896" cy="576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>
                <a:solidFill>
                  <a:srgbClr val="B0C5D6"/>
                </a:solidFill>
                <a:latin typeface="Noto Sans CJK SC"/>
                <a:ea typeface="Noto Sans CJK SC"/>
              </a:rPr>
              <a:t>2026.10.09  ·  约 30 分钟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>
                <a:solidFill>
                  <a:srgbClr val="B0C5D6"/>
                </a:solidFill>
                <a:latin typeface="Noto Sans CJK SC"/>
                <a:ea typeface="Noto Sans CJK SC"/>
              </a:rPr>
              <a:t>代码快照 f44bbaf4 · 现存实验产物核查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14232" y="1371600"/>
            <a:ext cx="2779776" cy="1060704"/>
          </a:xfrm>
          <a:prstGeom prst="roundRect">
            <a:avLst>
              <a:gd name="adj" fmla="val 12000"/>
            </a:avLst>
          </a:prstGeom>
          <a:solidFill>
            <a:srgbClr val="25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554480"/>
            <a:ext cx="23774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100" b="1">
                <a:solidFill>
                  <a:srgbClr val="77D1C7"/>
                </a:solidFill>
                <a:latin typeface="Noto Sans CJK SC"/>
                <a:ea typeface="Noto Sans CJK SC"/>
              </a:rPr>
              <a:t>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020824"/>
            <a:ext cx="237744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C++ / Python Harness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14232" y="2788920"/>
            <a:ext cx="2779776" cy="1060704"/>
          </a:xfrm>
          <a:prstGeom prst="roundRect">
            <a:avLst>
              <a:gd name="adj" fmla="val 12000"/>
            </a:avLst>
          </a:prstGeom>
          <a:solidFill>
            <a:srgbClr val="25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971800"/>
            <a:ext cx="23774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100" b="1">
                <a:solidFill>
                  <a:srgbClr val="77D1C7"/>
                </a:solidFill>
                <a:latin typeface="Noto Sans CJK SC"/>
                <a:ea typeface="Noto Sans CJK SC"/>
              </a:rPr>
              <a:t>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438144"/>
            <a:ext cx="237744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轨迹 → 经验 → 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4232" y="4206240"/>
            <a:ext cx="2779776" cy="1060704"/>
          </a:xfrm>
          <a:prstGeom prst="roundRect">
            <a:avLst>
              <a:gd name="adj" fmla="val 12000"/>
            </a:avLst>
          </a:prstGeom>
          <a:solidFill>
            <a:srgbClr val="25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389120"/>
            <a:ext cx="23774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100" b="1">
                <a:solidFill>
                  <a:srgbClr val="77D1C7"/>
                </a:solidFill>
                <a:latin typeface="Noto Sans CJK SC"/>
                <a:ea typeface="Noto Sans CJK SC"/>
              </a:rPr>
              <a:t>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855464"/>
            <a:ext cx="237744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同题对照 / 真实应用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01 / 汇报主线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当前结论：工程闭环已形成，研究证据仍需补强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先讲已经能够确认的结论，再展开机制、实验与研究问题。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证据：README.md · manifest.json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02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系统已有闭环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执行 → 轨迹 → 评测 → 记忆 → 策略 → 后续执行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开发对照已有增益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322 → 338 / 500；无效 loop 下降 46.32%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既定目标尚未达标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严格通过与质量相对提升 4.968944% &lt; 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下一步先补证据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独立留出、应用消融、稳定性与完整成本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核心讨论：怎样把“可运行的自进化”推进为“可证明的自进化收益”？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01 / 汇报主线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30 分钟汇报路线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主讲 30 页，答疑附录补充源码定位、状态语义与复现边界。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汇报导航 · 详细源码、结果与边界见逐页备注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03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系统底座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仓库地图、请求链路、在线与后台职责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自进化机制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打点、评测、记忆、L1–L3、GEPA与准入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实验审计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500题成绩、搜索失败、成本与选择偏差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研究讨论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可回答的问题、对照设计、交付顺序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主线始终围绕：系统做了什么、证据支持什么、下一步验证什么。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02 /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仓库由执行底座、Agent Harness 与演化组件组成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C++ 管理执行与状态；Python 驱动模型与工具；独立组件负责学习和策略。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证据：CMakeLists.txt:355,429 · CMakeLists.txt:4,155,217,240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04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1670608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145115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2672" y="2103120"/>
            <a:ext cx="4454956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2400" y="22128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主要位置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7629" y="2103120"/>
            <a:ext cx="5011826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7357" y="221284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职责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682240"/>
            <a:ext cx="167060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91968"/>
            <a:ext cx="145115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执行与通信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2672" y="268224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92400" y="279196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src/agent、workflow、runtime、daemon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7629" y="2682240"/>
            <a:ext cx="501182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7357" y="279196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身份、调度、并发、DataBus、RPC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261360"/>
            <a:ext cx="167060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71088"/>
            <a:ext cx="145115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Agent Harness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82672" y="326136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92400" y="337108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packages/agentflow-runtime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37629" y="3261360"/>
            <a:ext cx="501182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7357" y="337108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LLM 决策、技能、工具与循环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3840479"/>
            <a:ext cx="167060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50207"/>
            <a:ext cx="145115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演化组件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82672" y="3840479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92400" y="3950207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tools/trajectory_evolution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37629" y="3840479"/>
            <a:ext cx="501182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7357" y="3950207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轨迹、评测、记忆、策略与 GEPA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4419600"/>
            <a:ext cx="167060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29328"/>
            <a:ext cx="145115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接口与宿主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2672" y="441960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92400" y="452932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frontend/bridge；examples/agent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7629" y="4419600"/>
            <a:ext cx="501182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7357" y="452932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业务 API、工具环境、评测接线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" y="4998720"/>
            <a:ext cx="167060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108448"/>
            <a:ext cx="145115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实验与验收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82672" y="499872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92400" y="51084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benchmark；experiments；tests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37629" y="4998720"/>
            <a:ext cx="501182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47357" y="510844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对照协议、来源校验、分层验证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理解源码先沿一轮真实任务走，再沿同一条轨迹走进后台学习。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02 /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一次请求怎样跨语言执行并返回结果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下面是受测 v1 Harness 的代表路径；Bridge 之外也有 SDK 与实验入口。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证据：chat_rest.py:471 · rpc_handler.cpp:418,646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05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请求入口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Bridge / RPC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稳定用户与会话身份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任务调度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Session / Task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Scheduler / Worker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模型与技能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Python Coordinator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Skill → LLM / Tool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批次与结果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DataBus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exec key / ALL join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对外返回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ResponsePoller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Bridge / SessionLog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111496"/>
            <a:ext cx="10881360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00" b="0">
                <a:solidFill>
                  <a:srgbClr val="637587"/>
                </a:solidFill>
                <a:latin typeface="Noto Sans CJK SC"/>
                <a:ea typeface="Noto Sans CJK SC"/>
              </a:rPr>
              <a:t>分支结果、模型观察与最终交付共同构成轨迹；单个 success 字段不足以判断任务成功。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执行控制、模型决策和任务验收各有职责。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02 /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自进化是在线执行与后台学习之间的反馈环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一次 run 使用固定策略；新经验与新版本影响后续 run。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证据：local_runtime.cpp:292,340,368 · 01-overview.md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06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21408"/>
            <a:ext cx="1113739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2267712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90572"/>
            <a:ext cx="1289304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在线：当前任务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295144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2404872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冻结策略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825496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版本 / 授权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58284" y="2779776"/>
            <a:ext cx="182880" cy="0"/>
          </a:xfrm>
          <a:prstGeom prst="line">
            <a:avLst/>
          </a:prstGeom>
          <a:ln w="1651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59452" y="2295144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1748" y="2404872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执行与查询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1748" y="2825496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L1 / L2 / L3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30568" y="2779776"/>
            <a:ext cx="182880" cy="0"/>
          </a:xfrm>
          <a:prstGeom prst="line">
            <a:avLst/>
          </a:prstGeom>
          <a:ln w="1651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31736" y="2295144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404872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应用回执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825496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真实输入 / 动作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02852" y="2779776"/>
            <a:ext cx="182880" cy="0"/>
          </a:xfrm>
          <a:prstGeom prst="line">
            <a:avLst/>
          </a:prstGeom>
          <a:ln w="1651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04020" y="2295144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6316" y="2404872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任务收尾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6316" y="2825496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关闭 / 持久化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3749039"/>
            <a:ext cx="1113739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944" y="3895344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918204"/>
            <a:ext cx="1289304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后台：后续学习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3922776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4032503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轨迹校验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9464" y="4453127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Episode / 缺口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58284" y="4407407"/>
            <a:ext cx="182880" cy="0"/>
          </a:xfrm>
          <a:prstGeom prst="line">
            <a:avLst/>
          </a:prstGeom>
          <a:ln w="16510">
            <a:solidFill>
              <a:srgbClr val="397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759452" y="3922776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1748" y="4032503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评测与反思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1748" y="4453127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质量 / loop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30568" y="4407407"/>
            <a:ext cx="182880" cy="0"/>
          </a:xfrm>
          <a:prstGeom prst="line">
            <a:avLst/>
          </a:prstGeom>
          <a:ln w="16510">
            <a:solidFill>
              <a:srgbClr val="397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031736" y="3922776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2" y="4032503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经验与候选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4453127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审核 / 编译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02852" y="4407407"/>
            <a:ext cx="182880" cy="0"/>
          </a:xfrm>
          <a:prstGeom prst="line">
            <a:avLst/>
          </a:prstGeom>
          <a:ln w="16510">
            <a:solidFill>
              <a:srgbClr val="397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304020" y="3922776"/>
            <a:ext cx="2071116" cy="100584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6316" y="4032503"/>
            <a:ext cx="1906524" cy="3383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50" b="1">
                <a:solidFill>
                  <a:srgbClr val="142B45"/>
                </a:solidFill>
                <a:latin typeface="Noto Sans CJK SC"/>
                <a:ea typeface="Noto Sans CJK SC"/>
              </a:rPr>
              <a:t>验收与交付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6316" y="4453127"/>
            <a:ext cx="19065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637587"/>
                </a:solidFill>
                <a:latin typeface="Noto Sans CJK SC"/>
                <a:ea typeface="Noto Sans CJK SC"/>
              </a:rPr>
              <a:t>GEPA / 新版本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" y="5431536"/>
            <a:ext cx="1069848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637587"/>
                </a:solidFill>
                <a:latin typeface="Noto Sans CJK SC"/>
                <a:ea typeface="Noto Sans CJK SC"/>
              </a:rPr>
              <a:t>反馈：后台批准并交付的新版本 → 后续 run 加载；运行中版本保持固定。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进化对象是行为策略及经验，当前链路不更新模型权重。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L0–L4：收集事实、改变行为、搜索新策略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运行授权上限是 L1–L3；L4 用来描述后台优化能力。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证据：policy_runtime.cpp:112-113 · trajectory_trace.proto:11-18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07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66543"/>
            <a:ext cx="11137392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194560"/>
            <a:ext cx="722376" cy="310896"/>
          </a:xfrm>
          <a:prstGeom prst="roundRect">
            <a:avLst>
              <a:gd name="adj" fmla="val 12000"/>
            </a:avLst>
          </a:prstGeom>
          <a:solidFill>
            <a:srgbClr val="637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217420"/>
            <a:ext cx="5943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L0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03703"/>
            <a:ext cx="2048256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50" b="1">
                <a:solidFill>
                  <a:srgbClr val="142B45"/>
                </a:solidFill>
                <a:latin typeface="Noto Sans CJK SC"/>
                <a:ea typeface="Noto Sans CJK SC"/>
              </a:rPr>
              <a:t>采集与原始基线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03703"/>
            <a:ext cx="76626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记录任务 / 模型 / 动作 / loop，不施加演化增强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2724911"/>
            <a:ext cx="11137392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852927"/>
            <a:ext cx="722376" cy="310896"/>
          </a:xfrm>
          <a:prstGeom prst="roundRect">
            <a:avLst>
              <a:gd name="adj" fmla="val 12000"/>
            </a:avLst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875787"/>
            <a:ext cx="5943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862071"/>
            <a:ext cx="2048256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50" b="1">
                <a:solidFill>
                  <a:srgbClr val="142B45"/>
                </a:solidFill>
                <a:latin typeface="Noto Sans CJK SC"/>
                <a:ea typeface="Noto Sans CJK SC"/>
              </a:rPr>
              <a:t>经验输入增强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862071"/>
            <a:ext cx="76626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检索符合身份、作用域与观察条件的批准经验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3383279"/>
            <a:ext cx="11137392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511296"/>
            <a:ext cx="722376" cy="310896"/>
          </a:xfrm>
          <a:prstGeom prst="roundRect">
            <a:avLst>
              <a:gd name="adj" fmla="val 12000"/>
            </a:avLst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3534156"/>
            <a:ext cx="5943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L2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520439"/>
            <a:ext cx="2048256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50" b="1">
                <a:solidFill>
                  <a:srgbClr val="142B45"/>
                </a:solidFill>
                <a:latin typeface="Noto Sans CJK SC"/>
                <a:ea typeface="Noto Sans CJK SC"/>
              </a:rPr>
              <a:t>动作与编排控制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20439"/>
            <a:ext cx="76626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参数完整性检查、重试限制、拒绝规则、技能依赖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4041648"/>
            <a:ext cx="11137392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169663"/>
            <a:ext cx="722376" cy="310896"/>
          </a:xfrm>
          <a:prstGeom prst="roundRect">
            <a:avLst>
              <a:gd name="adj" fmla="val 12000"/>
            </a:avLst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4192524"/>
            <a:ext cx="5943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L3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178808"/>
            <a:ext cx="2048256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50" b="1">
                <a:solidFill>
                  <a:srgbClr val="142B45"/>
                </a:solidFill>
                <a:latin typeface="Noto Sans CJK SC"/>
                <a:ea typeface="Noto Sans CJK SC"/>
              </a:rPr>
              <a:t>循环控制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178808"/>
            <a:ext cx="76626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continue / replan / stop；遵守分支及待执行动作条件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" y="4700016"/>
            <a:ext cx="11137392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4828031"/>
            <a:ext cx="722376" cy="310896"/>
          </a:xfrm>
          <a:prstGeom prst="roundRect">
            <a:avLst>
              <a:gd name="adj" fmla="val 12000"/>
            </a:avLst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4850892"/>
            <a:ext cx="5943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L4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837176"/>
            <a:ext cx="2048256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50" b="1">
                <a:solidFill>
                  <a:srgbClr val="142B45"/>
                </a:solidFill>
                <a:latin typeface="Noto Sans CJK SC"/>
                <a:ea typeface="Noto Sans CJK SC"/>
              </a:rPr>
              <a:t>后台候选搜索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4837176"/>
            <a:ext cx="76626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反思变异、多父重组、Frontier、验证与准入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代码存在 → 配置开启 → 实际应用 → 同题收益 → 独立留出，逐层核验。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统一边界协议把执行事实与应用回执关联起来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evolution.boundary.v1 覆盖任务、模型、动作、调度与循环边界。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证据：boundary-v1.schema.json · 05-protocol.md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08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身份与分支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agent / user / conversation / run；point 与 parent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边界事实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模型请求、动作输入、工具观察、loop决策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因果与幂等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request_id、caused_by、exec_skill_key关联事实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真实应用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before 建议 → 实际执行 → advice.applied核验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打点提供观察与可追溯性；建议产生次数不能当实际应用次数。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轨迹先经过完整性校验，再进入评测与学习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错误轨迹、缺失收尾与采集降级需要显式记录，不能补成健康数据。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证据：10-capture-and-validation.md · evolution_pipeline.cpp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09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边界事件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任务 / 模型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工具 / loop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规范轨迹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统一结构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保留输入观察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完整性校验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身份与引用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缺口 / 隔离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评测诊断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质量 / strict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无效loop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学习候选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经验与控制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绑定证据来源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111496"/>
            <a:ext cx="10881360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00" b="0">
                <a:solidFill>
                  <a:srgbClr val="637587"/>
                </a:solidFill>
                <a:latin typeface="Noto Sans CJK SC"/>
                <a:ea typeface="Noto Sans CJK SC"/>
              </a:rPr>
              <a:t>候选必须保留证据、触发条件和适用范围，经过审核后才能进入运行策略。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可学习事实的完整性是策略质量的前提。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评测同时衡量任务成功、有效质量与无效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AppWorld 单目标样本的正式 Q 为 0 / 1；官方部分检查比例另作辅助。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证据：README.md · 19-datasets-and-benchmarks.md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10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严格通过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原生 verdict=passed；确定性检查与模型验收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有效质量 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普通目标完成度；检查失败 / 关键违规影响有效分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平均无效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完整评审中的无效迭代总数 ÷ 有效评审题数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资源与覆盖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时延、token、调用和额外尝试分别报覆盖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“质量更高”“轮数更少”“官方任务完成”需要明确各自定义。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记忆是带来源与资格的经验库，不是自由追加文本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私有经验与公共经验分层管理；批准状态、作用域和版本决定可应用资格。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证据：12-reflection-and-candidates.md · 13-private-memory.md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11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真实证据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任务失败与恢复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可追溯来源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候选经验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内容 / scope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条件 / 支持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审核与管理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合并 / 冲突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反证 / 资格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分层记忆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用户私有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受控公共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运行资格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已批准且匹配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才能编译应用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入库、批准、发布、加载、应用、收益是不同状态。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快照冻结内容；检索用当前观察筛选适用经验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当前在线检索以确定性词面匹配为主，不调用模型做语义检索。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证据：15-policy-snapshots.md:92-136 · local_runtime.cpp:292,368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12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冻结的部分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来源版本、经验正文、授权选项和策略身份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变化的部分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当前 task + state、已执行动作和分支观察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筛选与预算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批准 / scope → 独立词项 → 排序 → 数量与字节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当前限制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否定、任务阶段与长上下文语义不由词面保证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可讨论的改进：后台编译结构化触发器，在线只做轻量且可审计的判定。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L1：经验必须进入真实模型请求才算应用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查询命中 → 准备增强输入 → 实际发送 → 复核正文，形成完整证据链。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证据：llm_call.py:89,101 · policy_runtime.cpp:514-560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13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匹配经验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批准 / scope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真实观察条件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准备请求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经验进入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messages / tools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发送模型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真实 call 使用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prepared request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核验回执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注入正文一致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advice.applied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比较任务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成功与退步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另行配对验收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最佳500题策略 L1=595 次；应用频次是机制证据，不是收益幅度。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L2：在动作与派发位置落实结构化约束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动作约束和技能编排分别记回执，不能只统计生成了多少规则。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证据：skill_executor.py:83,1359 · coordinator_decide.py:1776,1787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14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工具动作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参数完整性检查、重试限制、动作拒绝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技能编排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依赖条件、派发顺序、accepted exec key与batch关联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合法性边界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批准来源、scope、级别与宿主可落实能力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已有实验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最佳500题 L2动作=0、L2编排=0；收益贡献待验证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要证明 L2 有效，需要“可触发任务 + 实际介入 + 同题消融”。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700" b="1">
                <a:solidFill>
                  <a:srgbClr val="142B45"/>
                </a:solidFill>
                <a:latin typeface="Noto Sans CJK SC"/>
                <a:ea typeface="Noto Sans CJK SC"/>
              </a:rPr>
              <a:t>L3：用真实进展控制 continue / replan /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循环控制作用于本分支，并需避免干扰仍在执行的动作。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证据：coordinator_decide.py:1362 · skill_executor.py:834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15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352044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Continue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无适用停止 / 重规划条件，或仍有在途动作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158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1584" y="2057400"/>
            <a:ext cx="50292" cy="3520440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Replan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符合重规划条件；上下文进入下一真实模型请求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110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1104" y="2057400"/>
            <a:ext cx="50292" cy="3520440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312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满足停止条件，保存原因与真实终态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最佳500题 L3=4 次；需重点检验误停止、漏触发和任务成功保持。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一条经验怎样走到真实行为：以 API 参数错误为例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示意基于现有产物摘录；本机缺失原轨迹，不能把摘录当完整重验。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证据：INTERMEDIATE_ARTIFACTS.md:22-84 · llm_call.py:89,101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16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观察错误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位置参数调用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触发 TypeError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提炼经验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核对公开接口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使用正确参数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批准与冻结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来源 / scope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content revision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运行介入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匹配真实错误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注入与回执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任务验收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动作是否修复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任务是否成功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111496"/>
            <a:ext cx="10881360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00" b="0">
                <a:solidFill>
                  <a:srgbClr val="637587"/>
                </a:solidFill>
                <a:latin typeface="Noto Sans CJK SC"/>
                <a:ea typeface="Noto Sans CJK SC"/>
              </a:rPr>
              <a:t>需要同时保存：原始失败 → 经验来源 → 冻结策略 → 实际请求 → 最终验收。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这条链路解释可追溯机制；收益归因仍需同题对照或消融。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GEPA 在后台反思、变异、重组并比较候选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仓库实现借鉴反思与 Pareto 搜索思想；本仓库收益须用自身实验验证。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证据：gepa_search.cpp / agent_evaluation.cpp · GEPA原论文 arXiv:2507.19457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17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66543"/>
            <a:ext cx="658368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2258568"/>
            <a:ext cx="1746504" cy="310896"/>
          </a:xfrm>
          <a:prstGeom prst="roundRect">
            <a:avLst>
              <a:gd name="adj" fmla="val 12000"/>
            </a:avLst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81428"/>
            <a:ext cx="1618488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lnSpc>
                <a:spcPct val="114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</a:rPr>
              <a:t>训练反馈 → 候选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871216"/>
            <a:ext cx="1828800" cy="804672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62656"/>
            <a:ext cx="1609344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138F8B"/>
                </a:solidFill>
                <a:latin typeface="Noto Sans CJK SC"/>
                <a:ea typeface="Noto Sans CJK SC"/>
              </a:rPr>
              <a:t>父策略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291840"/>
            <a:ext cx="1609344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50" b="0">
                <a:solidFill>
                  <a:srgbClr val="637587"/>
                </a:solidFill>
                <a:latin typeface="Noto Sans CJK SC"/>
                <a:ea typeface="Noto Sans CJK SC"/>
              </a:rPr>
              <a:t>固定版本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2191" y="2715768"/>
            <a:ext cx="2194560" cy="804672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807208"/>
            <a:ext cx="1975104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3974BD"/>
                </a:solidFill>
                <a:latin typeface="Noto Sans CJK SC"/>
                <a:ea typeface="Noto Sans CJK SC"/>
              </a:rPr>
              <a:t>反思变异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36392"/>
            <a:ext cx="1975104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50" b="0">
                <a:solidFill>
                  <a:srgbClr val="637587"/>
                </a:solidFill>
                <a:latin typeface="Noto Sans CJK SC"/>
                <a:ea typeface="Noto Sans CJK SC"/>
              </a:rPr>
              <a:t>经验 / 动作 /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2191" y="3813048"/>
            <a:ext cx="2194560" cy="804672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904487"/>
            <a:ext cx="1975104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7660AD"/>
                </a:solidFill>
                <a:latin typeface="Noto Sans CJK SC"/>
                <a:ea typeface="Noto Sans CJK SC"/>
              </a:rPr>
              <a:t>多父重组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233672"/>
            <a:ext cx="1975104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50" b="0">
                <a:solidFill>
                  <a:srgbClr val="637587"/>
                </a:solidFill>
                <a:latin typeface="Noto Sans CJK SC"/>
                <a:ea typeface="Noto Sans CJK SC"/>
              </a:rPr>
              <a:t>互补分支联合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700016"/>
            <a:ext cx="1828800" cy="61264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791455"/>
            <a:ext cx="1609344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D47E31"/>
                </a:solidFill>
                <a:latin typeface="Noto Sans CJK SC"/>
                <a:ea typeface="Noto Sans CJK SC"/>
              </a:rPr>
              <a:t>Frontier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5120640"/>
            <a:ext cx="1609344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50" b="0">
                <a:solidFill>
                  <a:srgbClr val="637587"/>
                </a:solidFill>
                <a:latin typeface="Noto Sans CJK SC"/>
                <a:ea typeface="Noto Sans CJK SC"/>
              </a:rPr>
              <a:t>保留互补候选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788920" y="3108960"/>
            <a:ext cx="978408" cy="173736"/>
          </a:xfrm>
          <a:prstGeom prst="line">
            <a:avLst/>
          </a:prstGeom>
          <a:ln w="21590">
            <a:solidFill>
              <a:srgbClr val="397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88920" y="3282696"/>
            <a:ext cx="978408" cy="923544"/>
          </a:xfrm>
          <a:prstGeom prst="line">
            <a:avLst/>
          </a:prstGeom>
          <a:ln w="21590">
            <a:solidFill>
              <a:srgbClr val="7660A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44184" y="3127248"/>
            <a:ext cx="612648" cy="0"/>
          </a:xfrm>
          <a:prstGeom prst="line">
            <a:avLst/>
          </a:prstGeom>
          <a:ln w="2159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56832" y="3127248"/>
            <a:ext cx="0" cy="1901952"/>
          </a:xfrm>
          <a:prstGeom prst="line">
            <a:avLst/>
          </a:prstGeom>
          <a:ln w="21590">
            <a:solidFill>
              <a:srgbClr val="13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825496" y="5029200"/>
            <a:ext cx="3831336" cy="0"/>
          </a:xfrm>
          <a:prstGeom prst="line">
            <a:avLst/>
          </a:prstGeom>
          <a:ln w="2159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874519" y="3721608"/>
            <a:ext cx="0" cy="969264"/>
          </a:xfrm>
          <a:prstGeom prst="line">
            <a:avLst/>
          </a:prstGeom>
          <a:ln w="21590">
            <a:solidFill>
              <a:srgbClr val="D47E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0" y="2066543"/>
            <a:ext cx="4334256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2066543"/>
            <a:ext cx="50292" cy="356616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07224" y="2276856"/>
            <a:ext cx="3950208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每一步都要回答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7224" y="2999232"/>
            <a:ext cx="3950208" cy="2496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1. 变更是否合法且有来源？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2. 新控制有没有实际触发？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3. 受影响任务是否真正改善？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4. val 能否支持进入下一阶段？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生成节点、应用变更、通过验证、完成最终对照，不能混为一次“进化成功”。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03 / 自进化机制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准入与交付：通过门禁才能称为合格策略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组件支持 train / val / holdout 分工；独立性还取决于实际实验使用方式。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证据：gepa_strategy.cpp:53-75 · gepa_search.cpp:7504-7544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18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训练筛选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合法 / 实际触发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收益与退化检查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验证选优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固定 val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候选比较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最终对照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同题 / 同裁判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完整覆盖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门禁判断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strict与Q ≥5%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loop下降 ≥15%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明确交付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qualified 或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best available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算法结构有 holdout 不等于本次500开发对照具有独立留出性质。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04 / 实验进展与问题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AppWorld 协议：500 题结果属于开发对照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官方环境与评分适配已具备；当前自定义范围不能直接当官方榜单复现。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证据：README.md · manifest.json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19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1559234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1339778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1298" y="2103120"/>
            <a:ext cx="4454956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1026" y="22128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当前数量与用途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6255" y="2103120"/>
            <a:ext cx="5123200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5983" y="2212848"/>
            <a:ext cx="49037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可得结论 / 限制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682240"/>
            <a:ext cx="1559234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91968"/>
            <a:ext cx="1339778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TRAIN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1298" y="268224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1026" y="279196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134：官方TRAIN90 + 补充44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6255" y="2682240"/>
            <a:ext cx="51232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5983" y="2791968"/>
            <a:ext cx="49037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学习来源；原树冻结132，seed来源另核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261360"/>
            <a:ext cx="1559234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71088"/>
            <a:ext cx="1339778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1298" y="326136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1026" y="337108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26255" y="3261360"/>
            <a:ext cx="5123200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5983" y="3371088"/>
            <a:ext cx="49037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搜索与候选选优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3840479"/>
            <a:ext cx="1559234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50207"/>
            <a:ext cx="1339778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开发验证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1298" y="3840479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81026" y="3950207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32 → 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6255" y="3840479"/>
            <a:ext cx="51232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5983" y="3950207"/>
            <a:ext cx="49037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固定500的前缀子集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4419600"/>
            <a:ext cx="1559234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29328"/>
            <a:ext cx="1339778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500开发对照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1298" y="441960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81026" y="452932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131 normal + 327 challenge + 42 dev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26255" y="4419600"/>
            <a:ext cx="5123200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5983" y="4529328"/>
            <a:ext cx="49037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已用于开发反馈，独立性不成立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" y="4998720"/>
            <a:ext cx="1559234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108448"/>
            <a:ext cx="1339778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未来确认评测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71298" y="499872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81026" y="51084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待设计并冻结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6255" y="4998720"/>
            <a:ext cx="51232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35983" y="5108448"/>
            <a:ext cx="49037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一次性验收泛化与稳定性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正文写“500题开发对照”，避免把文件名 holdout 当独立性证明。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04 / 实验进展与问题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AppWorld 流程脚本已交付，当前成绩未达目标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已有真实 API 全链路复现说明；本机运行环境与原生报告仍需补齐。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证据：README.md · reproduce.sh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20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训练与学习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真实轨迹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来源审核入库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冻结 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不可变策略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来源与版本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开发门禁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32 → 100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同题复用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后台搜索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最多30轮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train / 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500与交付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当前seed已评分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未达核心门槛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D47E31"/>
                </a:solidFill>
                <a:latin typeface="Noto Sans CJK SC"/>
                <a:ea typeface="Noto Sans CJK SC"/>
              </a:rPr>
              <a:t>当前交付状态：best_available_not_qualified；GEPA未宣称完成。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04 / 实验进展与问题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最佳已评分 seed：成功增加，loop 明显减少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同一500题；数值由当前两份逐题摘要复算，原始轨迹与部分原生报告缺失。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证据：AppWorld comparison.json / L0 result.json；500条摘要复算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21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66543"/>
            <a:ext cx="3602736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67712"/>
            <a:ext cx="3246120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800" b="1">
                <a:solidFill>
                  <a:srgbClr val="142B45"/>
                </a:solidFill>
                <a:latin typeface="Noto Sans CJK SC"/>
                <a:ea typeface="Noto Sans CJK SC"/>
              </a:rPr>
              <a:t>正式严格通过 / 500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76656" y="2788920"/>
          <a:ext cx="3255264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5074920"/>
            <a:ext cx="3218688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>
                <a:solidFill>
                  <a:srgbClr val="D47E31"/>
                </a:solidFill>
                <a:latin typeface="Noto Sans CJK SC"/>
                <a:ea typeface="Noto Sans CJK SC"/>
              </a:rPr>
              <a:t>+16 题；仍需 339 才过门槛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066543"/>
            <a:ext cx="3602736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267712"/>
            <a:ext cx="3246120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800" b="1">
                <a:solidFill>
                  <a:srgbClr val="142B45"/>
                </a:solidFill>
                <a:latin typeface="Noto Sans CJK SC"/>
                <a:ea typeface="Noto Sans CJK SC"/>
              </a:rPr>
              <a:t>正式有效质量 Q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443983" y="2788920"/>
          <a:ext cx="3255264" cy="2057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453128" y="5074920"/>
            <a:ext cx="3218688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>
                <a:solidFill>
                  <a:srgbClr val="D47E31"/>
                </a:solidFill>
                <a:latin typeface="Noto Sans CJK SC"/>
                <a:ea typeface="Noto Sans CJK SC"/>
              </a:rPr>
              <a:t>+3.2 个百分点 / +4.968944%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66543"/>
            <a:ext cx="3602736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267712"/>
            <a:ext cx="3246120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800" b="1">
                <a:solidFill>
                  <a:srgbClr val="142B45"/>
                </a:solidFill>
                <a:latin typeface="Noto Sans CJK SC"/>
                <a:ea typeface="Noto Sans CJK SC"/>
              </a:rPr>
              <a:t>平均无效 loop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211312" y="2788920"/>
          <a:ext cx="3255264" cy="2057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220456" y="5074920"/>
            <a:ext cx="3218688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>
                <a:solidFill>
                  <a:srgbClr val="138F8B"/>
                </a:solidFill>
                <a:latin typeface="Noto Sans CJK SC"/>
                <a:ea typeface="Noto Sans CJK SC"/>
              </a:rPr>
              <a:t>下降 46.315789%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D47E31"/>
                </a:solidFill>
                <a:latin typeface="Noto Sans CJK SC"/>
                <a:ea typeface="Noto Sans CJK SC"/>
              </a:rPr>
              <a:t>配对：78题改善 / 62题退步 / 360题不变；净增16题，strict与Q门槛仍未通过。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04 / 实验进展与问题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完整指标表：冻结 seed 与当前搜索节点分开列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父策略是当前树 Node0；历史标签“71”不是当前树的 Node71。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证据：comparison.json · 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22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3118469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2899013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同题500指标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0533" y="2103120"/>
            <a:ext cx="2227478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0261" y="2212848"/>
            <a:ext cx="2008022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L0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8012" y="2103120"/>
            <a:ext cx="3452591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7740" y="2212848"/>
            <a:ext cx="323313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父策略：冻结 seed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10603" y="2103120"/>
            <a:ext cx="2338852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0331" y="2212848"/>
            <a:ext cx="2119396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当前：Node30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599508"/>
            <a:ext cx="3118469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709236"/>
            <a:ext cx="2899013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执行 / 有效评分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0533" y="2599508"/>
            <a:ext cx="2227478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0261" y="2709236"/>
            <a:ext cx="2008022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500 / 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8012" y="2599508"/>
            <a:ext cx="3452591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7740" y="2709236"/>
            <a:ext cx="323313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500 / 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10603" y="2599508"/>
            <a:ext cx="2338852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0331" y="2709236"/>
            <a:ext cx="2119396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暂无新500结果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3095897"/>
            <a:ext cx="3118469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205625"/>
            <a:ext cx="2899013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严格通过 / 正式 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0533" y="3095897"/>
            <a:ext cx="2227478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0261" y="3205625"/>
            <a:ext cx="2008022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322 / 0.644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8012" y="3095897"/>
            <a:ext cx="3452591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7740" y="3205625"/>
            <a:ext cx="323313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338 / 0.676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10603" y="3095897"/>
            <a:ext cx="2338852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0331" y="3205625"/>
            <a:ext cx="2119396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3592285"/>
            <a:ext cx="3118469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702013"/>
            <a:ext cx="2899013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平均无效 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0533" y="3592285"/>
            <a:ext cx="2227478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0261" y="3702013"/>
            <a:ext cx="2008022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0.380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8012" y="3592285"/>
            <a:ext cx="3452591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7740" y="3702013"/>
            <a:ext cx="323313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0.204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10603" y="3592285"/>
            <a:ext cx="2338852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0331" y="3702013"/>
            <a:ext cx="2119396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" y="4088674"/>
            <a:ext cx="3118469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198402"/>
            <a:ext cx="2899013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时延（秒）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30533" y="4088674"/>
            <a:ext cx="2227478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0261" y="4198402"/>
            <a:ext cx="2008022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暂无完整统计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8012" y="4088674"/>
            <a:ext cx="3452591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67740" y="4198402"/>
            <a:ext cx="323313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172.43（500题）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10603" y="4088674"/>
            <a:ext cx="2338852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20331" y="4198402"/>
            <a:ext cx="2119396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" y="4585062"/>
            <a:ext cx="3118469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4694790"/>
            <a:ext cx="2899013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token / 模型调用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30533" y="4585062"/>
            <a:ext cx="2227478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0261" y="4694790"/>
            <a:ext cx="2008022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暂无完整统计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8012" y="4585062"/>
            <a:ext cx="3452591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67740" y="4694790"/>
            <a:ext cx="323313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172,923.98 / 25.72（497题）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10603" y="4585062"/>
            <a:ext cx="2338852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20331" y="4694790"/>
            <a:ext cx="2119396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" y="5081451"/>
            <a:ext cx="3118469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5191179"/>
            <a:ext cx="2899013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L1 / L2 / L3应用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30533" y="5081451"/>
            <a:ext cx="2227478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40261" y="5191179"/>
            <a:ext cx="2008022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0 / 0 / 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8012" y="5081451"/>
            <a:ext cx="3452591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67740" y="5191179"/>
            <a:ext cx="323313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595 / 0 / 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10603" y="5081451"/>
            <a:ext cx="2338852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20331" y="5191179"/>
            <a:ext cx="2119396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暂无同500指标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局部32题、完整500题与不同冻结版本不能混成一张“进化提升”成绩。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04 / 实验进展与问题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30 轮搜索：尚未产生新的 accepted 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Node26与Node28分别与父Node0在各自同题TRAIN32上比较；两组32题不同。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证据：tree.json · WORK_STATUS.md:1-7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23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352044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30个新节点的产出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新 accepted：0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反思调用：395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error13 / duplicate5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不可触发4 / interrupted3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不确定2 / 未观测变更2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训练拒绝1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158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1584" y="2057400"/>
            <a:ext cx="50292" cy="3520440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Node26：全池净增2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父Node0 → 子26，同32题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全池 strict：22 → 24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实际影响8题：6 → 6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新增关键违规1，节点被拒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全池改善不等于变更收益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110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1104" y="2057400"/>
            <a:ext cx="50292" cy="3520440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312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Node28：新控制未介入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父Node0 → 子28，另一32题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全池 strict：25 → 26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新增 L3 实际应用：0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既有 L1 应用：32 次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终态 unobserved_changes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D47E31"/>
                </a:solidFill>
                <a:latin typeface="Noto Sans CJK SC"/>
                <a:ea typeface="Noto Sans CJK SC"/>
              </a:rPr>
              <a:t>TRAIN32不是val或500；候选合法、实际介入和同题收益需要分别核验。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04 / 实验进展与问题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业务实验显示：成绩选择可能掩盖整体退步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业务与 AppWorld 独立展示；下表不是跨基准比较。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证据：业务 seed004 comparison300.json 的 L0/candidate/full400/limitations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24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3118469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2899013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同范围业务对照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0533" y="2103120"/>
            <a:ext cx="2561600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0261" y="221284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L0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133" y="2103120"/>
            <a:ext cx="2561600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861" y="221284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候选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3734" y="2103120"/>
            <a:ext cx="2895721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3462" y="2212848"/>
            <a:ext cx="2676265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结果边界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682240"/>
            <a:ext cx="3118469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791968"/>
            <a:ext cx="2899013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已选300：Q / strict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0533" y="2682240"/>
            <a:ext cx="25616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0261" y="279196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0.469022 / 113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2133" y="2682240"/>
            <a:ext cx="25616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1861" y="279196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0.557833 / 145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3734" y="2682240"/>
            <a:ext cx="2895721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3462" y="2791968"/>
            <a:ext cx="2676265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按已测成绩选子集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3261360"/>
            <a:ext cx="3118469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371088"/>
            <a:ext cx="2899013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已选300：无效loop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0533" y="3261360"/>
            <a:ext cx="2561600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0261" y="337108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3.07333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2133" y="3261360"/>
            <a:ext cx="2561600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1861" y="337108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1.97333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53734" y="3261360"/>
            <a:ext cx="2895721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3462" y="3371088"/>
            <a:ext cx="2676265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开发选择结果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3840479"/>
            <a:ext cx="3118469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950207"/>
            <a:ext cx="2899013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full400：Q / strict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0533" y="3840479"/>
            <a:ext cx="25616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0261" y="3950207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0.528392 / 177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2133" y="3840479"/>
            <a:ext cx="25616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1861" y="3950207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0.511717 / 168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3734" y="3840479"/>
            <a:ext cx="2895721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3462" y="3950207"/>
            <a:ext cx="2676265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完整400范围退步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" y="4419600"/>
            <a:ext cx="3118469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529328"/>
            <a:ext cx="2899013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full400：无效loop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30533" y="4419600"/>
            <a:ext cx="2561600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0261" y="452932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2.870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2133" y="4419600"/>
            <a:ext cx="2561600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1861" y="452932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2.955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53734" y="4419600"/>
            <a:ext cx="2895721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3462" y="4529328"/>
            <a:ext cx="2676265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重复无效迭代增加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" y="4998720"/>
            <a:ext cx="3118469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5108448"/>
            <a:ext cx="2899013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最终500范围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30533" y="4998720"/>
            <a:ext cx="25616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0261" y="510844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业务300 + 回放200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2133" y="4998720"/>
            <a:ext cx="2561600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1861" y="5108448"/>
            <a:ext cx="2342144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all_goals_met=true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53734" y="4998720"/>
            <a:ext cx="2895721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3462" y="5108448"/>
            <a:ext cx="2676265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>
                <a:solidFill>
                  <a:srgbClr val="23384E"/>
                </a:solidFill>
                <a:latin typeface="Noto Sans CJK SC"/>
                <a:ea typeface="Noto Sans CJK SC"/>
              </a:rPr>
              <a:t>非独立留出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D47E31"/>
                </a:solidFill>
                <a:latin typeface="Noto Sans CJK SC"/>
                <a:ea typeface="Noto Sans CJK SC"/>
              </a:rPr>
              <a:t>下一轮必须先冻结评测范围，再看候选成绩；不能按成绩反向选题。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04 / 实验进展与问题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目前的主要问题集中在四个证据缺口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将已确认的事实、静态限制和待检验假设分开处理。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证据：comparison.json · tree.json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25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介入与收益未闭合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L2=0、L3=4；生成规则和实际改变行为脱节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泛化评测不独立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开发反馈污染；业务子集存在成绩选择偏差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稳定性与成本不足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0新accepted；基线与额外尝试费用不完整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运行与来源边界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v1/v2接线差异；原报告缺失；回执≠落盘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优先补可验证关键链路，再扩候选空间或增加搜索预算。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05 / 下一步研究讨论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下一步研究问题：触发、控制与泛化如何闭合？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以下是依据当前限制提出的研究建议，尚未实现或验证。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研究建议 · 由当前词面检索、应用覆盖与评测限制推导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26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352044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RQ1：触发准确性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观察 + 任务阶段 + scope，能否减少误注入和漏注入？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158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1584" y="2057400"/>
            <a:ext cx="50292" cy="3520440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RQ2：行为控制价值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实际L2/L3介入，能否减少无效loop并保持成功？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110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1104" y="2057400"/>
            <a:ext cx="50292" cy="3520440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312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RQ3：跨任务泛化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冻结策略能否改善未参与开发的任务族？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推荐主线：证据约束的条件触发与行为控制；把GEPA作为候选优化基础。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05 / 下一步研究讨论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方向一：让经验在正确阶段触发，并留下可核验证据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保留来源和授权；将轻量条件编译与词面基线进行比较。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拟议方法 · 当前已有 observed_operations 与作用域机制可作为基础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27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训练事实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错误与恢复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正 / 负样本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8491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7091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7091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后台编译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115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条件 / 阶段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有限结构化规则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518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2118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2118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142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142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在线匹配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4142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分支真实状态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有界低开销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37145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7145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9169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9169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应用证据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9169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query → 请求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动作差分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3572" y="3300984"/>
            <a:ext cx="219456" cy="0"/>
          </a:xfrm>
          <a:prstGeom prst="line">
            <a:avLst/>
          </a:prstGeom>
          <a:ln w="25400">
            <a:solidFill>
              <a:srgbClr val="138F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2172" y="2157984"/>
            <a:ext cx="2037283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2172" y="2157984"/>
            <a:ext cx="50292" cy="26974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196" y="2340864"/>
            <a:ext cx="1653235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>
                <a:solidFill>
                  <a:srgbClr val="138F8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4196" y="2788920"/>
            <a:ext cx="1653235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独立验收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4196" y="3511296"/>
            <a:ext cx="1653235" cy="12070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冻结后评测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成功 / loop / 误触发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把“是否相关”推进为“何时适用”，并单独测量触发准确性与任务收益。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05 / 下一步研究讨论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方向二：用消融和配对实验检验真实收益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模型、宿主、任务、预算与裁判保持一致；评测不向记忆回写。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拟议实验 · 需与导师确认预算与一次性确认集方案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28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2338852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2119396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组别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0916" y="2103120"/>
            <a:ext cx="3786713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0644" y="2212848"/>
            <a:ext cx="356725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改变的因素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7629" y="2103120"/>
            <a:ext cx="5011826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7357" y="221284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要回答的问题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682240"/>
            <a:ext cx="2338852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91968"/>
            <a:ext cx="2119396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A：L0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0916" y="2682240"/>
            <a:ext cx="3786713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0644" y="2791968"/>
            <a:ext cx="356725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不启用策略增强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7629" y="2682240"/>
            <a:ext cx="501182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7357" y="279196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原始成功率与成本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261360"/>
            <a:ext cx="2338852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71088"/>
            <a:ext cx="2119396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B：固定经验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0916" y="3261360"/>
            <a:ext cx="3786713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0644" y="3371088"/>
            <a:ext cx="356725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同一批准经验快照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37629" y="3261360"/>
            <a:ext cx="501182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7357" y="337108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经验内容是否有用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3840479"/>
            <a:ext cx="2338852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50207"/>
            <a:ext cx="2119396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C：条件L1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50916" y="3840479"/>
            <a:ext cx="3786713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60644" y="3950207"/>
            <a:ext cx="356725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仅改变触发机制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37629" y="3840479"/>
            <a:ext cx="501182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7357" y="3950207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阶段条件是否优于词面基线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4419600"/>
            <a:ext cx="2338852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29328"/>
            <a:ext cx="2119396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D：L1 + L2/L3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50916" y="4419600"/>
            <a:ext cx="3786713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60644" y="4529328"/>
            <a:ext cx="356725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受控动作或loop策略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37629" y="4419600"/>
            <a:ext cx="501182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7357" y="452932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控制对成功与loop的增量贡献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" y="4998720"/>
            <a:ext cx="2338852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108448"/>
            <a:ext cx="2119396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消融 / 重复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50916" y="4998720"/>
            <a:ext cx="3786713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60644" y="5108448"/>
            <a:ext cx="356725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逐层关闭；多随机重复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37629" y="4998720"/>
            <a:ext cx="501182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47357" y="5108448"/>
            <a:ext cx="479237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归属、稳定性、退化与总成本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先验证介入，再验证收益；用未触碰确认集检验泛化。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05 / 下一步研究讨论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建议按证据闭合顺序推进，而非继续堆搜索轮数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阶段与耗时为规划建议；以验收条件为准，不作完成承诺。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下一阶段规划建议 · 各阶段以验收条件决定是否进入下一步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29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2004730" cy="694944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1785274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建议阶段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6794" y="2103120"/>
            <a:ext cx="4789078" cy="694944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6522" y="2212848"/>
            <a:ext cx="4569622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主要产物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5873" y="2103120"/>
            <a:ext cx="4343582" cy="694944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601" y="2212848"/>
            <a:ext cx="4124126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进入下一步的条件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798063"/>
            <a:ext cx="200473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07791"/>
            <a:ext cx="1785274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1：证据准备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6794" y="2798063"/>
            <a:ext cx="478907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6522" y="2907791"/>
            <a:ext cx="4569622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可迁移原报告 / 版本 / 配置 / 成本包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5873" y="2798063"/>
            <a:ext cx="434358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601" y="2907791"/>
            <a:ext cx="4124126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来源可重验；范围与接线明确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493008"/>
            <a:ext cx="2004730" cy="69494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602736"/>
            <a:ext cx="1785274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2：小范围机制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6794" y="3493008"/>
            <a:ext cx="4789078" cy="69494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6522" y="3602736"/>
            <a:ext cx="4569622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条件触发与回执验证；错误分类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5873" y="3493008"/>
            <a:ext cx="4343582" cy="69494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601" y="3602736"/>
            <a:ext cx="4124126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真实介入，误触发和退化可量化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4187952"/>
            <a:ext cx="200473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297680"/>
            <a:ext cx="1785274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3：开发消融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6794" y="4187952"/>
            <a:ext cx="4789078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6522" y="4297680"/>
            <a:ext cx="4569622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等预算对照与多次重复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5873" y="4187952"/>
            <a:ext cx="434358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601" y="4297680"/>
            <a:ext cx="4124126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开发集稳定收益，策略冻结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4882896"/>
            <a:ext cx="2004730" cy="69494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992624"/>
            <a:ext cx="1785274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4：一次确认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6794" y="4882896"/>
            <a:ext cx="4789078" cy="69494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26522" y="4992624"/>
            <a:ext cx="4569622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未触碰确认集结果；区间与总成本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05873" y="4882896"/>
            <a:ext cx="4343582" cy="69494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15601" y="4992624"/>
            <a:ext cx="4124126" cy="5394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完成独立验收，保留失败和未达标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优先级：可重验证据 → 条件触发 → 层级消融 → 独立确认。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05 / 下一步研究讨论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请导师帮助确定三个取舍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带着清楚的系统基础与证据边界，讨论一个可收敛的研究目标。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讨论页 · 建议方案与待决定事项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30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352044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研究主线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条件触发 + 行为控制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或后台搜索效率？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158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1584" y="2057400"/>
            <a:ext cx="50292" cy="3520440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360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任务与边界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AppWorld主评测；业务机制诊断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确认集如何冻结？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1104" y="2057400"/>
            <a:ext cx="35783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1104" y="2057400"/>
            <a:ext cx="50292" cy="3520440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3128" y="2267712"/>
            <a:ext cx="319430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预算与验收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8" y="2990088"/>
            <a:ext cx="3194304" cy="2450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允许的控制范围、重复次数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总成本与阶段退出条件？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拟议定位：基于真实执行证据的、可验证的 Agent 行为自进化。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A / 仓库掌握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源码阅读路线：先运行链，再学习链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按问题导航；路径与符号以当前提交为准。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证据：chat_rest.py · rpc_handler.cpp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31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2450226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2230770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要掌握的问题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290" y="2103120"/>
            <a:ext cx="8687165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018" y="2212848"/>
            <a:ext cx="8467709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优先阅读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599508"/>
            <a:ext cx="2450226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09236"/>
            <a:ext cx="2230770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请求与批次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2290" y="2599508"/>
            <a:ext cx="8687165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018" y="2709236"/>
            <a:ext cx="8467709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chat_rest.py → rpc_handler.cpp → session_router.cpp → agent.cpp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3095897"/>
            <a:ext cx="2450226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205625"/>
            <a:ext cx="2230770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模型与工具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2290" y="3095897"/>
            <a:ext cx="8687165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2018" y="3205625"/>
            <a:ext cx="8467709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llm_call.py → coordinator_decide.py → skill_executor.py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592285"/>
            <a:ext cx="2450226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702013"/>
            <a:ext cx="2230770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采集与持久化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62290" y="3592285"/>
            <a:ext cx="8687165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72018" y="3702013"/>
            <a:ext cx="8467709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local_runtime.cpp / integration_service.cpp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088674"/>
            <a:ext cx="2450226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198402"/>
            <a:ext cx="2230770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学习与运行策略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62290" y="4088674"/>
            <a:ext cx="8687165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72018" y="4198402"/>
            <a:ext cx="8467709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evolution_pipeline.cpp → memory → policy_runtime.cpp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85062"/>
            <a:ext cx="2450226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694790"/>
            <a:ext cx="2230770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后台选优与验收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62290" y="4585062"/>
            <a:ext cx="8687165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72018" y="4694790"/>
            <a:ext cx="8467709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agent_evaluation.cpp → gepa_search.cpp → gepa_strategy.cpp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5081451"/>
            <a:ext cx="2450226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191179"/>
            <a:ext cx="2230770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可复现实验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62290" y="5081451"/>
            <a:ext cx="8687165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72018" y="5191179"/>
            <a:ext cx="8467709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experiments/appworld/README.md → reproduce.sh → manifest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日常构建 ./scripts/build.sh dev；组件另行构建；测试范围不能混算。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B / 运行边界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接入范围：v1、v2、配置与入口必须分开核验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默认模板 v2，与当前已有直接演化打点的 v1 路径存在差异。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证据：llm_call.py:89 · skill_executor.py:83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32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当前直接接线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v1：模型 / 工具 / 派发 /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默认模板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脚本缺省v2；wrapper环境缺省v1，需核验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启用条件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实际环境值、EVOLUTION_POINT_CONFIG、服务/身份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评测入口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专用runner显式v1；Bridge评测有专门开关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报告“组件已集成”时，同时说明宿主版本、配置与真实应用证据。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C / 可靠性边界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持久化与恢复：接受、落盘与业务续跑不同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下面是静态源码确认的能力边界，未做本轮故障注入。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证据：local_runtime.cpp:671-738 · integration_service.cpp:669-695,844,1340,2685,2743,2804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33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2227478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200802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9542" y="2103120"/>
            <a:ext cx="4454956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9270" y="22128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当前能确认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4499" y="2103120"/>
            <a:ext cx="4454956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4227" y="22128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不能据此宣称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682240"/>
            <a:ext cx="222747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91968"/>
            <a:ext cx="200802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原生采集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9542" y="268224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9270" y="279196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内存接受；初始 / 最终快照落盘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4499" y="268224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4227" y="279196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每个中间事件都可恢复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261360"/>
            <a:ext cx="222747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71088"/>
            <a:ext cx="200802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HTTP buffered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39542" y="326136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49270" y="337108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队列接受；status / flush确认落盘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94499" y="326136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4227" y="337108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run.end成功必定已持久化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3840479"/>
            <a:ext cx="222747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50207"/>
            <a:ext cx="200802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启动恢复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39542" y="3840479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9270" y="3950207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已落盘不完整运行 abort / quarantine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94499" y="3840479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04227" y="3950207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故障后从原工具动作自动续跑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4419600"/>
            <a:ext cx="222747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29328"/>
            <a:ext cx="200802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后台作业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39542" y="441960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49270" y="452932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恢复学习 / 评测检查点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94499" y="441960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4227" y="452932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复原未落盘的全部业务事件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" y="4998720"/>
            <a:ext cx="222747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108448"/>
            <a:ext cx="200802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归档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39542" y="499872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49270" y="51084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移入archive；可历史读取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94499" y="499872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4227" y="51084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自动释放磁盘或具备总字节配额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可靠性研究前先定义允许丢失窗口、恢复责任与磁盘保留策略。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D / 状态语义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状态字典：同一个“完成”不能覆盖整条链路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这些状态需要各自的证据，不能依次推定。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证据：README.md · manifest.json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34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4009461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379000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1525" y="2103120"/>
            <a:ext cx="7127930" cy="496388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1253" y="2212848"/>
            <a:ext cx="6908474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回答的问题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599508"/>
            <a:ext cx="4009461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09236"/>
            <a:ext cx="379000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completed / persisted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1525" y="2599508"/>
            <a:ext cx="7127930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1253" y="2709236"/>
            <a:ext cx="6908474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执行是否终态 / 采集是否已落盘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3095897"/>
            <a:ext cx="4009461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205625"/>
            <a:ext cx="379000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evaluated / approved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1525" y="3095897"/>
            <a:ext cx="7127930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1253" y="3205625"/>
            <a:ext cx="6908474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评分是否完整 / 经验是否获得应用资格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592285"/>
            <a:ext cx="4009461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702013"/>
            <a:ext cx="379000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published / delivered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1525" y="3592285"/>
            <a:ext cx="7127930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1253" y="3702013"/>
            <a:ext cx="6908474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哪个产物被交付？合格还是最佳可用？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088674"/>
            <a:ext cx="4009461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198402"/>
            <a:ext cx="379000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loaded_version / advice.applied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1525" y="4088674"/>
            <a:ext cx="7127930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1253" y="4198402"/>
            <a:ext cx="6908474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加载了哪个版本 / 实际使用了何种增强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85062"/>
            <a:ext cx="4009461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694790"/>
            <a:ext cx="379000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passed / goal_passed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525" y="4585062"/>
            <a:ext cx="7127930" cy="49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1253" y="4694790"/>
            <a:ext cx="6908474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任务严格通过 / 实验门槛是否达成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5081451"/>
            <a:ext cx="4009461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191179"/>
            <a:ext cx="3790005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client.delivery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1525" y="5081451"/>
            <a:ext cx="7127930" cy="496388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1253" y="5191179"/>
            <a:ext cx="6908474" cy="3409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服务端观察；client_acknowledged=false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实现、启用、应用、收益和泛化分别建立证据。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E / 可迁移与复现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证据包：现有摘要可复算，原生来源仍需补齐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当前本机证据与原运行产物分开描述，避免把旧路径当现存文件。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证据：manifest.json · comparison.json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35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本机已保留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策略 / memory / tree / 两边500逐题摘要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本次可复算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strict、Q、loop、L1-L3；候选部分资源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本机缺失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6份候选native report + L0原报告等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下一步归档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环境 / 版本 / 脱敏配置 / 官方IO / 全尝试成本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摘要自洽是必要条件；可审查原始事实和可重跑复现还需原生来源。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F / 指标口径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官方完成率与仓库严格验收分开报告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仓库的正式 strict/Q 加入了额外严格验收，不直接等于官方 TGC。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证据：result.json · comparison.json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36 /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2057400"/>
            <a:ext cx="50292" cy="1659636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正式严格验收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322 → 338；确定性与模型严格条件共同满足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57400"/>
            <a:ext cx="50292" cy="1659636"/>
          </a:xfrm>
          <a:prstGeom prst="rect">
            <a:avLst/>
          </a:prstGeom>
          <a:solidFill>
            <a:srgbClr val="397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67712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官方任务完成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0088"/>
            <a:ext cx="5084064" cy="5897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323 → 339；官方状态字段，按独立口径报告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918204"/>
            <a:ext cx="50292" cy="1659636"/>
          </a:xfrm>
          <a:prstGeom prst="rect">
            <a:avLst/>
          </a:prstGeom>
          <a:solidFill>
            <a:srgbClr val="766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正式有效 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本批单目标Q为0/1；均值等于正式strict率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18204"/>
            <a:ext cx="5468112" cy="16596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18204"/>
            <a:ext cx="50292" cy="1659636"/>
          </a:xfrm>
          <a:prstGeom prst="rect">
            <a:avLst/>
          </a:prstGeom>
          <a:solidFill>
            <a:srgbClr val="D4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28516"/>
            <a:ext cx="5084064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000" b="1">
                <a:solidFill>
                  <a:srgbClr val="142B45"/>
                </a:solidFill>
                <a:latin typeface="Noto Sans CJK SC"/>
                <a:ea typeface="Noto Sans CJK SC"/>
              </a:rPr>
              <a:t>辅助检查比例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850892"/>
            <a:ext cx="5084064" cy="5897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0">
                <a:solidFill>
                  <a:srgbClr val="23384E"/>
                </a:solidFill>
                <a:latin typeface="Noto Sans CJK SC"/>
                <a:ea typeface="Noto Sans CJK SC"/>
              </a:rPr>
              <a:t>official_quality为部分检查比例；不替代严格通过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主图 64.4% → 67.6% 是仓库正式口径；公开汇报须保留这一说明。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G / 验证边界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可复现入口与本次核查范围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命令作为入口说明；本次没有执行模型实验、服务启动或构建回归。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证据：README.md · reproduce.sh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37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2784348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256489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6412" y="2103120"/>
            <a:ext cx="4454956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40" y="22128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51368" y="2103120"/>
            <a:ext cx="3898087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1096" y="2212848"/>
            <a:ext cx="367863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</a:rPr>
              <a:t>当前报告边界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682240"/>
            <a:ext cx="278434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91968"/>
            <a:ext cx="256489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--fresh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6412" y="268224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40" y="279196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真实训练 → 学习 → 搜索 → 对照 → 发布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1368" y="2682240"/>
            <a:ext cx="3898087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1096" y="2791968"/>
            <a:ext cx="367863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会执行模型；本次未运行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261360"/>
            <a:ext cx="278434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71088"/>
            <a:ext cx="256489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--resume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6412" y="326136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6140" y="337108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按冻结身份恢复原作业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51368" y="3261360"/>
            <a:ext cx="3898087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1096" y="3371088"/>
            <a:ext cx="367863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不是新树或改旧成绩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3840479"/>
            <a:ext cx="278434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50207"/>
            <a:ext cx="256489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--plan / --status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6412" y="3840479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6140" y="3950207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只读阶段安排与状态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51368" y="3840479"/>
            <a:ext cx="3898087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1096" y="3950207"/>
            <a:ext cx="367863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状态字段仍需原产物核验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4419600"/>
            <a:ext cx="278434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29328"/>
            <a:ext cx="256489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--deliver-best-available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6412" y="4419600"/>
            <a:ext cx="4454956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6140" y="452932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导出现有完整已评分策略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51368" y="4419600"/>
            <a:ext cx="3898087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1096" y="4529328"/>
            <a:ext cx="367863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不代表目标达标或GEPA完成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" y="4998720"/>
            <a:ext cx="278434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108448"/>
            <a:ext cx="256489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本轮核查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6412" y="4998720"/>
            <a:ext cx="4454956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06140" y="5108448"/>
            <a:ext cx="4235500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静态源码、摘要复算、来源与文稿渲染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51368" y="4998720"/>
            <a:ext cx="3898087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1096" y="5108448"/>
            <a:ext cx="3678631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50" b="0">
                <a:solidFill>
                  <a:srgbClr val="23384E"/>
                </a:solidFill>
                <a:latin typeface="Noto Sans CJK SC"/>
                <a:ea typeface="Noto Sans CJK SC"/>
              </a:rPr>
              <a:t>未跑构建、回归或真实模型验收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可复现脚本存在、运行成功、成绩稳定复现是三个不同结论。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3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9669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>
                <a:solidFill>
                  <a:srgbClr val="138F8B"/>
                </a:solidFill>
                <a:latin typeface="Noto Sans CJK SC"/>
                <a:ea typeface="Noto Sans CJK SC"/>
              </a:rPr>
              <a:t>附录 H / 答疑准备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0664"/>
            <a:ext cx="1106424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900" b="1">
                <a:solidFill>
                  <a:srgbClr val="142B45"/>
                </a:solidFill>
                <a:latin typeface="Noto Sans CJK SC"/>
                <a:ea typeface="Noto Sans CJK SC"/>
              </a:rPr>
              <a:t>导师可能追问的五个问题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453896"/>
            <a:ext cx="11018520" cy="5577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50" b="0">
                <a:solidFill>
                  <a:srgbClr val="637587"/>
                </a:solidFill>
                <a:latin typeface="Noto Sans CJK SC"/>
                <a:ea typeface="Noto Sans CJK SC"/>
              </a:rPr>
              <a:t>回答时先给结论，再给证据边界。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9050">
            <a:solidFill>
              <a:srgbClr val="DB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105156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850" b="0">
                <a:solidFill>
                  <a:srgbClr val="637587"/>
                </a:solidFill>
                <a:latin typeface="Noto Sans CJK SC"/>
                <a:ea typeface="Noto Sans CJK SC"/>
              </a:rPr>
              <a:t>证据：comparison.json · tree.json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9672"/>
            <a:ext cx="566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lnSpc>
                <a:spcPct val="114000"/>
              </a:lnSpc>
              <a:spcAft>
                <a:spcPts val="500"/>
              </a:spcAft>
            </a:pPr>
            <a:r>
              <a:rPr sz="950" b="0">
                <a:solidFill>
                  <a:srgbClr val="637587"/>
                </a:solidFill>
                <a:latin typeface="Noto Sans CJK SC"/>
                <a:ea typeface="Noto Sans CJK SC"/>
              </a:rPr>
              <a:t>38 / 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3229843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301038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1907" y="2103120"/>
            <a:ext cx="7907548" cy="5791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1635" y="2212848"/>
            <a:ext cx="768809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可据当前证据回答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682240"/>
            <a:ext cx="3229843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91968"/>
            <a:ext cx="301038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是否训练了模型？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1907" y="2682240"/>
            <a:ext cx="790754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1635" y="2791968"/>
            <a:ext cx="768809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当前不更新权重；演化经验、动作与loop策略。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3261360"/>
            <a:ext cx="3229843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371088"/>
            <a:ext cx="301038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自进化已经成功吗？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1907" y="3261360"/>
            <a:ext cx="790754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1635" y="3371088"/>
            <a:ext cx="768809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开发范围改善；质量门槛未达；独立泛化待验证。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840479"/>
            <a:ext cx="3229843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950207"/>
            <a:ext cx="301038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L2/L3贡献有多大？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1907" y="3840479"/>
            <a:ext cx="790754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1635" y="3950207"/>
            <a:ext cx="768809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L2=0、L3=4；尚需真实触发、配对消融和重复实验。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9600"/>
            <a:ext cx="3229843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529328"/>
            <a:ext cx="301038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GEPA30轮有效吗？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1907" y="4419600"/>
            <a:ext cx="7907548" cy="57912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1635" y="4529328"/>
            <a:ext cx="768809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当前0新accepted；保留真实状态，不把搜索次数当收益。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998720"/>
            <a:ext cx="3229843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108448"/>
            <a:ext cx="3010387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下一步贡献是什么？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1907" y="4998720"/>
            <a:ext cx="7907548" cy="57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1635" y="5108448"/>
            <a:ext cx="7688092" cy="4236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0">
                <a:solidFill>
                  <a:srgbClr val="23384E"/>
                </a:solidFill>
                <a:latin typeface="Noto Sans CJK SC"/>
                <a:ea typeface="Noto Sans CJK SC"/>
              </a:rPr>
              <a:t>条件触发与可验证控制；独立验收稳定收益及完整成本。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" y="5870448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8172"/>
            <a:ext cx="108356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38F8B"/>
                </a:solidFill>
                <a:latin typeface="Noto Sans CJK SC"/>
                <a:ea typeface="Noto Sans CJK SC"/>
              </a:rPr>
              <a:t>已实现机制可以讲清楚；尚未证明的收益作为下一步研究问题。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AgentFlow 自进化系统：当前机制、实验进展与研究方向</dc:title>
  <dc:subject>30分钟导师汇报；当前源码与现存实验产物核查</dc:subject>
  <dc:creator>AgentFlow research workspace</dc:creator>
  <cp:keywords>AgentFlow, self-evolution, GEPA, AppWorld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